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E2W Sales (Millions)</c:v>
                </c:pt>
              </c:strCache>
            </c:strRef>
          </c:tx>
          <c:spPr>
            <a:solidFill>
              <a:srgbClr val="60A5FA"/>
            </a:solidFill>
          </c:spPr>
          <c:cat>
            <c:strRef>
              <c:f>Sheet1!$A$2:$A$5</c:f>
              <c:strCache>
                <c:ptCount val="4"/>
                <c:pt idx="0">
                  <c:v>2023</c:v>
                </c:pt>
                <c:pt idx="1">
                  <c:v>2024</c:v>
                </c:pt>
                <c:pt idx="2">
                  <c:v>2025</c:v>
                </c:pt>
                <c:pt idx="3">
                  <c:v>2026</c:v>
                </c:pt>
              </c:strCache>
            </c:strRef>
          </c:cat>
          <c:val>
            <c:numRef>
              <c:f>Sheet1!$B$2:$B$5</c:f>
              <c:numCache>
                <c:formatCode>General</c:formatCode>
                <c:ptCount val="4"/>
                <c:pt idx="0">
                  <c:v>1.5</c:v>
                </c:pt>
                <c:pt idx="1">
                  <c:v>2.8</c:v>
                </c:pt>
                <c:pt idx="2">
                  <c:v>4.5</c:v>
                </c:pt>
                <c:pt idx="3">
                  <c:v>7.0</c:v>
                </c:pt>
              </c:numCache>
            </c:numRef>
          </c:val>
        </c:ser>
        <c:gapWidth val="8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spPr>
            <a:ln>
              <a:solidFill>
                <a:srgbClr val="1F2937"/>
              </a:solidFill>
            </a:ln>
          </c:spPr>
        </c:majorGridlines>
        <c:majorTickMark val="out"/>
        <c:minorTickMark val="none"/>
        <c:tickLblPos val="nextTo"/>
        <c:spPr>
          <a:ln>
            <a:noFill/>
          </a:ln>
        </c:spPr>
        <c:crossAx val="-2068027336"/>
        <c:crosses val="autoZero"/>
      </c:valAx>
    </c:plotArea>
    <c:dispBlanksAs val="gap"/>
  </c:chart>
  <c:txPr>
    <a:bodyPr/>
    <a:lstStyle/>
    <a:p>
      <a:pPr>
        <a:defRPr sz="1300">
          <a:solidFill>
            <a:srgbClr val="9CA3AF"/>
          </a:solidFill>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Today, we'll explore the dynamic and rapidly expanding electric two-wheeler market in India, highlighting its immense potential for growth. We'll cover key market drivers, challenges, and our strategic approach to capitalize on this significant opportunity. This presentation aims to provide investors with a comprehensive overview and a compelling reason to join 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India is experiencing a transformative shift in its transportation sector, with electric two-wheelers leading the charge. This transition is fueled by government incentives and a growing environmental consciousness among consumers. We anticipate a substantial increase in market penetration in the coming years, making it a prime investment landscape.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chart illustrates the projected exponential growth of electric two-wheeler sales in India over the next few years. These numbers are illustrative and demonstrate the market's upward trajectory, driven by increasing adoption and supportive policies. The market is expected to more than quadruple in volume by 2026, presenting a huge opportunity.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Indian E2W market is highly competitive, featuring both new-age startups and legacy automotive giants. Ola Electric has made significant inroads with its aggressive pricing, while Ather targets a more premium, tech-savvy consumer base. Traditional players like TVS and Bajaj are leveraging their brand loyalty and extensive dealership networks to capture market share.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provides an illustrative snapshot of the current competitor landscape. Each player brings unique strengths and targets specific market segments. While market shares are illustrative, they reflect the current competitive dynamics and highlight areas of opportunity for new entrants. Understanding these players is crucial for developing a differentiated strategy.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Despite rapid growth, the electric two-wheeler ecosystem faces significant challenges, particularly concerning charging infrastructure. The lack of widespread public charging, coupled with varying standards, creates inconvenience for users. Addressing range anxiety and building a robust, accessible charging network will be critical for sustained market expansion.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FAME II scheme has been instrumental in accelerating E2W adoption by offering substantial subsidies. This has made electric vehicles more affordable and stimulated local production. However, recent adjustments to the subsidy structure mean manufacturers must now innovate to maintain competitive pricing, pushing the market towards more organic, demand-driven growth and sustainable business models.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go-to-market strategy is designed for rapid penetration and sustainable growth. We will initially target high-demand segments like urban youth and delivery services. By adopting an online-first model supported by physical experience centers, we can efficiently reach our customers. We also plan to leverage partnerships for a seamless battery swapping experience, addressing critical charging concerns.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sets us apart is our commitment to innovation and customer value. Our modular battery design offers unparalleled flexibility, while our fast-charging technology drastically reduces downtime. We prioritize superior build quality, ensuring reliability and safety. Combined with flexible service packages and a strong team, we are poised to capture significant market share.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Indian electric two-wheeler market is at an inflection point, ready for explosive growth. We have a clear vision, a strong strategy, and a differentiated product to succeed in this exciting landscape. We invite you to join us in shaping the future of sustainable mobility in India and realize significant returns on your investment.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6629400"/>
            <a:ext cx="12191695" cy="22860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377440"/>
            <a:ext cx="109728" cy="173736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194560"/>
            <a:ext cx="10728655" cy="1371600"/>
          </a:xfrm>
          <a:prstGeom prst="rect">
            <a:avLst/>
          </a:prstGeom>
          <a:noFill/>
        </p:spPr>
        <p:txBody>
          <a:bodyPr wrap="square" anchor="b" lIns="45720" rIns="45720">
            <a:spAutoFit/>
          </a:bodyPr>
          <a:lstStyle/>
          <a:p>
            <a:pPr algn="l"/>
            <a:r>
              <a:rPr sz="4800" b="1" i="0">
                <a:solidFill>
                  <a:srgbClr val="F9FAFB"/>
                </a:solidFill>
                <a:latin typeface="Segoe UI"/>
              </a:rPr>
              <a:t>Indian Electric Two-Wheeler Market Outlook</a:t>
            </a:r>
          </a:p>
        </p:txBody>
      </p:sp>
      <p:sp>
        <p:nvSpPr>
          <p:cNvPr id="5" name="TextBox 4"/>
          <p:cNvSpPr txBox="1"/>
          <p:nvPr/>
        </p:nvSpPr>
        <p:spPr>
          <a:xfrm>
            <a:off x="914400" y="3657600"/>
            <a:ext cx="10728655" cy="914400"/>
          </a:xfrm>
          <a:prstGeom prst="rect">
            <a:avLst/>
          </a:prstGeom>
          <a:noFill/>
        </p:spPr>
        <p:txBody>
          <a:bodyPr wrap="square" anchor="t" lIns="45720" rIns="45720">
            <a:spAutoFit/>
          </a:bodyPr>
          <a:lstStyle/>
          <a:p>
            <a:pPr algn="l"/>
            <a:r>
              <a:rPr sz="2200" b="0" i="0">
                <a:solidFill>
                  <a:srgbClr val="F9FAFB"/>
                </a:solidFill>
                <a:latin typeface="Segoe UI"/>
              </a:rPr>
              <a:t>Investment Opportunity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anchor="ctr" lIns="45720" rIns="45720">
            <a:spAutoFit/>
          </a:bodyPr>
          <a:lstStyle/>
          <a:p>
            <a:pPr algn="l"/>
            <a:r>
              <a:rPr sz="3200" b="1" i="0">
                <a:solidFill>
                  <a:srgbClr val="F3F4F6"/>
                </a:solidFill>
                <a:latin typeface="Segoe UI"/>
              </a:rPr>
              <a:t>India's E2W Market: A Rapid Rise</a:t>
            </a:r>
          </a:p>
        </p:txBody>
      </p:sp>
      <p:sp>
        <p:nvSpPr>
          <p:cNvPr id="3" name="Rectangle 2"/>
          <p:cNvSpPr/>
          <p:nvPr/>
        </p:nvSpPr>
        <p:spPr>
          <a:xfrm>
            <a:off x="548640" y="1234440"/>
            <a:ext cx="1097280" cy="64008"/>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00200"/>
            <a:ext cx="11094415" cy="4526280"/>
          </a:xfrm>
          <a:prstGeom prst="rect">
            <a:avLst/>
          </a:prstGeom>
          <a:noFill/>
        </p:spPr>
        <p:txBody>
          <a:bodyPr wrap="square">
            <a:spAutoFit/>
          </a:bodyPr>
          <a:lstStyle/>
          <a:p>
            <a:pPr>
              <a:spcAft>
                <a:spcPts val="2160"/>
              </a:spcAft>
            </a:pPr>
            <a:r>
              <a:rPr sz="1439">
                <a:solidFill>
                  <a:srgbClr val="60A5FA"/>
                </a:solidFill>
                <a:latin typeface="Segoe UI"/>
              </a:rPr>
              <a:t>■  </a:t>
            </a:r>
            <a:r>
              <a:rPr sz="2400">
                <a:solidFill>
                  <a:srgbClr val="F3F4F6"/>
                </a:solidFill>
                <a:latin typeface="Segoe UI"/>
              </a:rPr>
              <a:t>Massive shift towards electric mobility underway</a:t>
            </a:r>
          </a:p>
          <a:p>
            <a:pPr>
              <a:spcAft>
                <a:spcPts val="2160"/>
              </a:spcAft>
            </a:pPr>
            <a:r>
              <a:rPr sz="1439">
                <a:solidFill>
                  <a:srgbClr val="60A5FA"/>
                </a:solidFill>
                <a:latin typeface="Segoe UI"/>
              </a:rPr>
              <a:t>■  </a:t>
            </a:r>
            <a:r>
              <a:rPr sz="2400">
                <a:solidFill>
                  <a:srgbClr val="F3F4F6"/>
                </a:solidFill>
                <a:latin typeface="Segoe UI"/>
              </a:rPr>
              <a:t>Strong government push for sustainable transport</a:t>
            </a:r>
          </a:p>
          <a:p>
            <a:pPr>
              <a:spcAft>
                <a:spcPts val="2160"/>
              </a:spcAft>
            </a:pPr>
            <a:r>
              <a:rPr sz="1439">
                <a:solidFill>
                  <a:srgbClr val="60A5FA"/>
                </a:solidFill>
                <a:latin typeface="Segoe UI"/>
              </a:rPr>
              <a:t>■  </a:t>
            </a:r>
            <a:r>
              <a:rPr sz="2400">
                <a:solidFill>
                  <a:srgbClr val="F3F4F6"/>
                </a:solidFill>
                <a:latin typeface="Segoe UI"/>
              </a:rPr>
              <a:t>Growing consumer awareness and demand for EVs</a:t>
            </a:r>
          </a:p>
          <a:p>
            <a:pPr>
              <a:spcAft>
                <a:spcPts val="2160"/>
              </a:spcAft>
            </a:pPr>
            <a:r>
              <a:rPr sz="1439">
                <a:solidFill>
                  <a:srgbClr val="60A5FA"/>
                </a:solidFill>
                <a:latin typeface="Segoe UI"/>
              </a:rPr>
              <a:t>■  </a:t>
            </a:r>
            <a:r>
              <a:rPr sz="2400">
                <a:solidFill>
                  <a:srgbClr val="F3F4F6"/>
                </a:solidFill>
                <a:latin typeface="Segoe UI"/>
              </a:rPr>
              <a:t>Significant market growth projected by 2026</a:t>
            </a:r>
          </a:p>
        </p:txBody>
      </p:sp>
      <p:sp>
        <p:nvSpPr>
          <p:cNvPr id="5" name="TextBox 4"/>
          <p:cNvSpPr txBox="1"/>
          <p:nvPr/>
        </p:nvSpPr>
        <p:spPr>
          <a:xfrm>
            <a:off x="548640" y="6400800"/>
            <a:ext cx="7315200" cy="274320"/>
          </a:xfrm>
          <a:prstGeom prst="rect">
            <a:avLst/>
          </a:prstGeom>
          <a:noFill/>
        </p:spPr>
        <p:txBody>
          <a:bodyPr wrap="square" anchor="t" lIns="45720" rIns="45720">
            <a:spAutoFit/>
          </a:bodyPr>
          <a:lstStyle/>
          <a:p>
            <a:pPr algn="l"/>
            <a:r>
              <a:rPr sz="1000" b="0" i="0">
                <a:solidFill>
                  <a:srgbClr val="9CA3AF"/>
                </a:solidFill>
                <a:latin typeface="Segoe UI"/>
              </a:rPr>
              <a:t>Indian Electric Two-Wheeler Market Outlook</a:t>
            </a:r>
          </a:p>
        </p:txBody>
      </p:sp>
      <p:sp>
        <p:nvSpPr>
          <p:cNvPr id="6" name="TextBox 5"/>
          <p:cNvSpPr txBox="1"/>
          <p:nvPr/>
        </p:nvSpPr>
        <p:spPr>
          <a:xfrm>
            <a:off x="10728655" y="6400800"/>
            <a:ext cx="914400" cy="274320"/>
          </a:xfrm>
          <a:prstGeom prst="rect">
            <a:avLst/>
          </a:prstGeom>
          <a:noFill/>
        </p:spPr>
        <p:txBody>
          <a:bodyPr wrap="square" anchor="t" lIns="45720" rIns="45720">
            <a:spAutoFit/>
          </a:bodyPr>
          <a:lstStyle/>
          <a:p>
            <a:pPr algn="r"/>
            <a:r>
              <a:rPr sz="1000" b="0" i="0">
                <a:solidFill>
                  <a:srgbClr val="9CA3AF"/>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anchor="ctr" lIns="45720" rIns="45720">
            <a:spAutoFit/>
          </a:bodyPr>
          <a:lstStyle/>
          <a:p>
            <a:pPr algn="l"/>
            <a:r>
              <a:rPr sz="3200" b="1" i="0">
                <a:solidFill>
                  <a:srgbClr val="F3F4F6"/>
                </a:solidFill>
                <a:latin typeface="Segoe UI"/>
              </a:rPr>
              <a:t>Projected E2W Market Growth (2023-2026)</a:t>
            </a:r>
          </a:p>
        </p:txBody>
      </p:sp>
      <p:sp>
        <p:nvSpPr>
          <p:cNvPr id="3" name="Rectangle 2"/>
          <p:cNvSpPr/>
          <p:nvPr/>
        </p:nvSpPr>
        <p:spPr>
          <a:xfrm>
            <a:off x="548640" y="1234440"/>
            <a:ext cx="1097280" cy="64008"/>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Chart 3"/>
          <p:cNvGraphicFramePr>
            <a:graphicFrameLocks noGrp="1"/>
          </p:cNvGraphicFramePr>
          <p:nvPr/>
        </p:nvGraphicFramePr>
        <p:xfrm>
          <a:off x="548640" y="1645920"/>
          <a:ext cx="11094415" cy="4480560"/>
        </p:xfrm>
        <a:graphic>
          <a:graphicData uri="http://schemas.openxmlformats.org/drawingml/2006/chart">
            <c:chart xmlns:c="http://schemas.openxmlformats.org/drawingml/2006/chart" r:id="rId2"/>
          </a:graphicData>
        </a:graphic>
      </p:graphicFrame>
      <p:sp>
        <p:nvSpPr>
          <p:cNvPr id="5" name="TextBox 4"/>
          <p:cNvSpPr txBox="1"/>
          <p:nvPr/>
        </p:nvSpPr>
        <p:spPr>
          <a:xfrm>
            <a:off x="548640" y="6400800"/>
            <a:ext cx="7315200" cy="274320"/>
          </a:xfrm>
          <a:prstGeom prst="rect">
            <a:avLst/>
          </a:prstGeom>
          <a:noFill/>
        </p:spPr>
        <p:txBody>
          <a:bodyPr wrap="square" anchor="t" lIns="45720" rIns="45720">
            <a:spAutoFit/>
          </a:bodyPr>
          <a:lstStyle/>
          <a:p>
            <a:pPr algn="l"/>
            <a:r>
              <a:rPr sz="1000" b="0" i="0">
                <a:solidFill>
                  <a:srgbClr val="9CA3AF"/>
                </a:solidFill>
                <a:latin typeface="Segoe UI"/>
              </a:rPr>
              <a:t>Indian Electric Two-Wheeler Market Outlook</a:t>
            </a:r>
          </a:p>
        </p:txBody>
      </p:sp>
      <p:sp>
        <p:nvSpPr>
          <p:cNvPr id="6" name="TextBox 5"/>
          <p:cNvSpPr txBox="1"/>
          <p:nvPr/>
        </p:nvSpPr>
        <p:spPr>
          <a:xfrm>
            <a:off x="10728655" y="6400800"/>
            <a:ext cx="914400" cy="274320"/>
          </a:xfrm>
          <a:prstGeom prst="rect">
            <a:avLst/>
          </a:prstGeom>
          <a:noFill/>
        </p:spPr>
        <p:txBody>
          <a:bodyPr wrap="square" anchor="t" lIns="45720" rIns="45720">
            <a:spAutoFit/>
          </a:bodyPr>
          <a:lstStyle/>
          <a:p>
            <a:pPr algn="r"/>
            <a:r>
              <a:rPr sz="1000" b="0" i="0">
                <a:solidFill>
                  <a:srgbClr val="9CA3AF"/>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anchor="ctr" lIns="45720" rIns="45720">
            <a:spAutoFit/>
          </a:bodyPr>
          <a:lstStyle/>
          <a:p>
            <a:pPr algn="l"/>
            <a:r>
              <a:rPr sz="3200" b="1" i="0">
                <a:solidFill>
                  <a:srgbClr val="F3F4F6"/>
                </a:solidFill>
                <a:latin typeface="Segoe UI"/>
              </a:rPr>
              <a:t>Dominant Players in E2W Segment</a:t>
            </a:r>
          </a:p>
        </p:txBody>
      </p:sp>
      <p:sp>
        <p:nvSpPr>
          <p:cNvPr id="3" name="Rectangle 2"/>
          <p:cNvSpPr/>
          <p:nvPr/>
        </p:nvSpPr>
        <p:spPr>
          <a:xfrm>
            <a:off x="548640" y="1234440"/>
            <a:ext cx="1097280" cy="64008"/>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00200"/>
            <a:ext cx="11094415" cy="4526280"/>
          </a:xfrm>
          <a:prstGeom prst="rect">
            <a:avLst/>
          </a:prstGeom>
          <a:noFill/>
        </p:spPr>
        <p:txBody>
          <a:bodyPr wrap="square">
            <a:spAutoFit/>
          </a:bodyPr>
          <a:lstStyle/>
          <a:p>
            <a:pPr>
              <a:spcAft>
                <a:spcPts val="2160"/>
              </a:spcAft>
            </a:pPr>
            <a:r>
              <a:rPr sz="1439">
                <a:solidFill>
                  <a:srgbClr val="60A5FA"/>
                </a:solidFill>
                <a:latin typeface="Segoe UI"/>
              </a:rPr>
              <a:t>■  </a:t>
            </a:r>
            <a:r>
              <a:rPr sz="2400">
                <a:solidFill>
                  <a:srgbClr val="F3F4F6"/>
                </a:solidFill>
                <a:latin typeface="Segoe UI"/>
              </a:rPr>
              <a:t>Ola Electric: Aggressive pricing and marketing strategies</a:t>
            </a:r>
          </a:p>
          <a:p>
            <a:pPr>
              <a:spcAft>
                <a:spcPts val="2160"/>
              </a:spcAft>
            </a:pPr>
            <a:r>
              <a:rPr sz="1439">
                <a:solidFill>
                  <a:srgbClr val="60A5FA"/>
                </a:solidFill>
                <a:latin typeface="Segoe UI"/>
              </a:rPr>
              <a:t>■  </a:t>
            </a:r>
            <a:r>
              <a:rPr sz="2400">
                <a:solidFill>
                  <a:srgbClr val="F3F4F6"/>
                </a:solidFill>
                <a:latin typeface="Segoe UI"/>
              </a:rPr>
              <a:t>Ather Energy: Focus on premium, tech-driven offerings</a:t>
            </a:r>
          </a:p>
          <a:p>
            <a:pPr>
              <a:spcAft>
                <a:spcPts val="2160"/>
              </a:spcAft>
            </a:pPr>
            <a:r>
              <a:rPr sz="1439">
                <a:solidFill>
                  <a:srgbClr val="60A5FA"/>
                </a:solidFill>
                <a:latin typeface="Segoe UI"/>
              </a:rPr>
              <a:t>■  </a:t>
            </a:r>
            <a:r>
              <a:rPr sz="2400">
                <a:solidFill>
                  <a:srgbClr val="F3F4F6"/>
                </a:solidFill>
                <a:latin typeface="Segoe UI"/>
              </a:rPr>
              <a:t>TVS Motor Company: Established brand, expanding EV portfolio</a:t>
            </a:r>
          </a:p>
          <a:p>
            <a:pPr>
              <a:spcAft>
                <a:spcPts val="2160"/>
              </a:spcAft>
            </a:pPr>
            <a:r>
              <a:rPr sz="1439">
                <a:solidFill>
                  <a:srgbClr val="60A5FA"/>
                </a:solidFill>
                <a:latin typeface="Segoe UI"/>
              </a:rPr>
              <a:t>■  </a:t>
            </a:r>
            <a:r>
              <a:rPr sz="2400">
                <a:solidFill>
                  <a:srgbClr val="F3F4F6"/>
                </a:solidFill>
                <a:latin typeface="Segoe UI"/>
              </a:rPr>
              <a:t>Bajaj Auto: Entry with Chetak, leveraging existing network</a:t>
            </a:r>
          </a:p>
          <a:p>
            <a:pPr>
              <a:spcAft>
                <a:spcPts val="2160"/>
              </a:spcAft>
            </a:pPr>
            <a:r>
              <a:rPr sz="1439">
                <a:solidFill>
                  <a:srgbClr val="60A5FA"/>
                </a:solidFill>
                <a:latin typeface="Segoe UI"/>
              </a:rPr>
              <a:t>■  </a:t>
            </a:r>
            <a:r>
              <a:rPr sz="2400">
                <a:solidFill>
                  <a:srgbClr val="F3F4F6"/>
                </a:solidFill>
                <a:latin typeface="Segoe UI"/>
              </a:rPr>
              <a:t>Hero Electric: Pioneer in the affordable and slow-speed segment</a:t>
            </a:r>
          </a:p>
        </p:txBody>
      </p:sp>
      <p:sp>
        <p:nvSpPr>
          <p:cNvPr id="5" name="TextBox 4"/>
          <p:cNvSpPr txBox="1"/>
          <p:nvPr/>
        </p:nvSpPr>
        <p:spPr>
          <a:xfrm>
            <a:off x="548640" y="6400800"/>
            <a:ext cx="7315200" cy="274320"/>
          </a:xfrm>
          <a:prstGeom prst="rect">
            <a:avLst/>
          </a:prstGeom>
          <a:noFill/>
        </p:spPr>
        <p:txBody>
          <a:bodyPr wrap="square" anchor="t" lIns="45720" rIns="45720">
            <a:spAutoFit/>
          </a:bodyPr>
          <a:lstStyle/>
          <a:p>
            <a:pPr algn="l"/>
            <a:r>
              <a:rPr sz="1000" b="0" i="0">
                <a:solidFill>
                  <a:srgbClr val="9CA3AF"/>
                </a:solidFill>
                <a:latin typeface="Segoe UI"/>
              </a:rPr>
              <a:t>Indian Electric Two-Wheeler Market Outlook</a:t>
            </a:r>
          </a:p>
        </p:txBody>
      </p:sp>
      <p:sp>
        <p:nvSpPr>
          <p:cNvPr id="6" name="TextBox 5"/>
          <p:cNvSpPr txBox="1"/>
          <p:nvPr/>
        </p:nvSpPr>
        <p:spPr>
          <a:xfrm>
            <a:off x="10728655" y="6400800"/>
            <a:ext cx="914400" cy="274320"/>
          </a:xfrm>
          <a:prstGeom prst="rect">
            <a:avLst/>
          </a:prstGeom>
          <a:noFill/>
        </p:spPr>
        <p:txBody>
          <a:bodyPr wrap="square" anchor="t" lIns="45720" rIns="45720">
            <a:spAutoFit/>
          </a:bodyPr>
          <a:lstStyle/>
          <a:p>
            <a:pPr algn="r"/>
            <a:r>
              <a:rPr sz="1000" b="0" i="0">
                <a:solidFill>
                  <a:srgbClr val="9CA3AF"/>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anchor="ctr" lIns="45720" rIns="45720">
            <a:spAutoFit/>
          </a:bodyPr>
          <a:lstStyle/>
          <a:p>
            <a:pPr algn="l"/>
            <a:r>
              <a:rPr sz="3200" b="1" i="0">
                <a:solidFill>
                  <a:srgbClr val="F3F4F6"/>
                </a:solidFill>
                <a:latin typeface="Segoe UI"/>
              </a:rPr>
              <a:t>Key Competitor Comparison</a:t>
            </a:r>
          </a:p>
        </p:txBody>
      </p:sp>
      <p:sp>
        <p:nvSpPr>
          <p:cNvPr id="3" name="Rectangle 2"/>
          <p:cNvSpPr/>
          <p:nvPr/>
        </p:nvSpPr>
        <p:spPr>
          <a:xfrm>
            <a:off x="548640" y="1234440"/>
            <a:ext cx="1097280" cy="64008"/>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691640"/>
          <a:ext cx="11094415" cy="3017520"/>
        </p:xfrm>
        <a:graphic>
          <a:graphicData uri="http://schemas.openxmlformats.org/drawingml/2006/table">
            <a:tbl>
              <a:tblPr firstRow="1" bandRow="1">
                <a:tableStyleId>{5C22544A-7EE6-4342-B048-85BDC9FD1C3A}</a:tableStyleId>
              </a:tblPr>
              <a:tblGrid>
                <a:gridCol w="2773603"/>
                <a:gridCol w="2773603"/>
                <a:gridCol w="2773603"/>
                <a:gridCol w="2773606"/>
              </a:tblGrid>
              <a:tr h="502920">
                <a:tc>
                  <a:txBody>
                    <a:bodyPr/>
                    <a:lstStyle/>
                    <a:p>
                      <a:r>
                        <a:rPr sz="1600" b="1">
                          <a:solidFill>
                            <a:srgbClr val="F9FAFB"/>
                          </a:solidFill>
                          <a:latin typeface="Segoe UI"/>
                        </a:rPr>
                        <a:t>Player</a:t>
                      </a:r>
                    </a:p>
                  </a:txBody>
                  <a:tcPr anchor="ctr">
                    <a:solidFill>
                      <a:srgbClr val="0B1220"/>
                    </a:solidFill>
                  </a:tcPr>
                </a:tc>
                <a:tc>
                  <a:txBody>
                    <a:bodyPr/>
                    <a:lstStyle/>
                    <a:p>
                      <a:r>
                        <a:rPr sz="1600" b="1">
                          <a:solidFill>
                            <a:srgbClr val="F9FAFB"/>
                          </a:solidFill>
                          <a:latin typeface="Segoe UI"/>
                        </a:rPr>
                        <a:t>Strength</a:t>
                      </a:r>
                    </a:p>
                  </a:txBody>
                  <a:tcPr anchor="ctr">
                    <a:solidFill>
                      <a:srgbClr val="0B1220"/>
                    </a:solidFill>
                  </a:tcPr>
                </a:tc>
                <a:tc>
                  <a:txBody>
                    <a:bodyPr/>
                    <a:lstStyle/>
                    <a:p>
                      <a:r>
                        <a:rPr sz="1600" b="1">
                          <a:solidFill>
                            <a:srgbClr val="F9FAFB"/>
                          </a:solidFill>
                          <a:latin typeface="Segoe UI"/>
                        </a:rPr>
                        <a:t>Focus</a:t>
                      </a:r>
                    </a:p>
                  </a:txBody>
                  <a:tcPr anchor="ctr">
                    <a:solidFill>
                      <a:srgbClr val="0B1220"/>
                    </a:solidFill>
                  </a:tcPr>
                </a:tc>
                <a:tc>
                  <a:txBody>
                    <a:bodyPr/>
                    <a:lstStyle/>
                    <a:p>
                      <a:r>
                        <a:rPr sz="1600" b="1">
                          <a:solidFill>
                            <a:srgbClr val="F9FAFB"/>
                          </a:solidFill>
                          <a:latin typeface="Segoe UI"/>
                        </a:rPr>
                        <a:t>Market Share (Illustrative)</a:t>
                      </a:r>
                    </a:p>
                  </a:txBody>
                  <a:tcPr anchor="ctr">
                    <a:solidFill>
                      <a:srgbClr val="0B1220"/>
                    </a:solidFill>
                  </a:tcPr>
                </a:tc>
              </a:tr>
              <a:tr h="502920">
                <a:tc>
                  <a:txBody>
                    <a:bodyPr/>
                    <a:lstStyle/>
                    <a:p>
                      <a:r>
                        <a:rPr sz="1600" b="0">
                          <a:solidFill>
                            <a:srgbClr val="F3F4F6"/>
                          </a:solidFill>
                          <a:latin typeface="Segoe UI"/>
                        </a:rPr>
                        <a:t>Ola Electric</a:t>
                      </a:r>
                    </a:p>
                  </a:txBody>
                  <a:tcPr anchor="ctr">
                    <a:solidFill>
                      <a:srgbClr val="111827"/>
                    </a:solidFill>
                  </a:tcPr>
                </a:tc>
                <a:tc>
                  <a:txBody>
                    <a:bodyPr/>
                    <a:lstStyle/>
                    <a:p>
                      <a:r>
                        <a:rPr sz="1600" b="0">
                          <a:solidFill>
                            <a:srgbClr val="F3F4F6"/>
                          </a:solidFill>
                          <a:latin typeface="Segoe UI"/>
                        </a:rPr>
                        <a:t>Aggressive pricing</a:t>
                      </a:r>
                    </a:p>
                  </a:txBody>
                  <a:tcPr anchor="ctr">
                    <a:solidFill>
                      <a:srgbClr val="111827"/>
                    </a:solidFill>
                  </a:tcPr>
                </a:tc>
                <a:tc>
                  <a:txBody>
                    <a:bodyPr/>
                    <a:lstStyle/>
                    <a:p>
                      <a:r>
                        <a:rPr sz="1600" b="0">
                          <a:solidFill>
                            <a:srgbClr val="F3F4F6"/>
                          </a:solidFill>
                          <a:latin typeface="Segoe UI"/>
                        </a:rPr>
                        <a:t>Mass market</a:t>
                      </a:r>
                    </a:p>
                  </a:txBody>
                  <a:tcPr anchor="ctr">
                    <a:solidFill>
                      <a:srgbClr val="111827"/>
                    </a:solidFill>
                  </a:tcPr>
                </a:tc>
                <a:tc>
                  <a:txBody>
                    <a:bodyPr/>
                    <a:lstStyle/>
                    <a:p>
                      <a:r>
                        <a:rPr sz="1600" b="0">
                          <a:solidFill>
                            <a:srgbClr val="F3F4F6"/>
                          </a:solidFill>
                          <a:latin typeface="Segoe UI"/>
                        </a:rPr>
                        <a:t>25%</a:t>
                      </a:r>
                    </a:p>
                  </a:txBody>
                  <a:tcPr anchor="ctr">
                    <a:solidFill>
                      <a:srgbClr val="111827"/>
                    </a:solidFill>
                  </a:tcPr>
                </a:tc>
              </a:tr>
              <a:tr h="502920">
                <a:tc>
                  <a:txBody>
                    <a:bodyPr/>
                    <a:lstStyle/>
                    <a:p>
                      <a:r>
                        <a:rPr sz="1600" b="0">
                          <a:solidFill>
                            <a:srgbClr val="F3F4F6"/>
                          </a:solidFill>
                          <a:latin typeface="Segoe UI"/>
                        </a:rPr>
                        <a:t>Ather Energy</a:t>
                      </a:r>
                    </a:p>
                  </a:txBody>
                  <a:tcPr anchor="ctr">
                    <a:solidFill>
                      <a:srgbClr val="1F2937"/>
                    </a:solidFill>
                  </a:tcPr>
                </a:tc>
                <a:tc>
                  <a:txBody>
                    <a:bodyPr/>
                    <a:lstStyle/>
                    <a:p>
                      <a:r>
                        <a:rPr sz="1600" b="0">
                          <a:solidFill>
                            <a:srgbClr val="F3F4F6"/>
                          </a:solidFill>
                          <a:latin typeface="Segoe UI"/>
                        </a:rPr>
                        <a:t>Premium tech</a:t>
                      </a:r>
                    </a:p>
                  </a:txBody>
                  <a:tcPr anchor="ctr">
                    <a:solidFill>
                      <a:srgbClr val="1F2937"/>
                    </a:solidFill>
                  </a:tcPr>
                </a:tc>
                <a:tc>
                  <a:txBody>
                    <a:bodyPr/>
                    <a:lstStyle/>
                    <a:p>
                      <a:r>
                        <a:rPr sz="1600" b="0">
                          <a:solidFill>
                            <a:srgbClr val="F3F4F6"/>
                          </a:solidFill>
                          <a:latin typeface="Segoe UI"/>
                        </a:rPr>
                        <a:t>Urban commuters</a:t>
                      </a:r>
                    </a:p>
                  </a:txBody>
                  <a:tcPr anchor="ctr">
                    <a:solidFill>
                      <a:srgbClr val="1F2937"/>
                    </a:solidFill>
                  </a:tcPr>
                </a:tc>
                <a:tc>
                  <a:txBody>
                    <a:bodyPr/>
                    <a:lstStyle/>
                    <a:p>
                      <a:r>
                        <a:rPr sz="1600" b="0">
                          <a:solidFill>
                            <a:srgbClr val="F3F4F6"/>
                          </a:solidFill>
                          <a:latin typeface="Segoe UI"/>
                        </a:rPr>
                        <a:t>15%</a:t>
                      </a:r>
                    </a:p>
                  </a:txBody>
                  <a:tcPr anchor="ctr">
                    <a:solidFill>
                      <a:srgbClr val="1F2937"/>
                    </a:solidFill>
                  </a:tcPr>
                </a:tc>
              </a:tr>
              <a:tr h="502920">
                <a:tc>
                  <a:txBody>
                    <a:bodyPr/>
                    <a:lstStyle/>
                    <a:p>
                      <a:r>
                        <a:rPr sz="1600" b="0">
                          <a:solidFill>
                            <a:srgbClr val="F3F4F6"/>
                          </a:solidFill>
                          <a:latin typeface="Segoe UI"/>
                        </a:rPr>
                        <a:t>TVS iQube</a:t>
                      </a:r>
                    </a:p>
                  </a:txBody>
                  <a:tcPr anchor="ctr">
                    <a:solidFill>
                      <a:srgbClr val="111827"/>
                    </a:solidFill>
                  </a:tcPr>
                </a:tc>
                <a:tc>
                  <a:txBody>
                    <a:bodyPr/>
                    <a:lstStyle/>
                    <a:p>
                      <a:r>
                        <a:rPr sz="1600" b="0">
                          <a:solidFill>
                            <a:srgbClr val="F3F4F6"/>
                          </a:solidFill>
                          <a:latin typeface="Segoe UI"/>
                        </a:rPr>
                        <a:t>Brand trust</a:t>
                      </a:r>
                    </a:p>
                  </a:txBody>
                  <a:tcPr anchor="ctr">
                    <a:solidFill>
                      <a:srgbClr val="111827"/>
                    </a:solidFill>
                  </a:tcPr>
                </a:tc>
                <a:tc>
                  <a:txBody>
                    <a:bodyPr/>
                    <a:lstStyle/>
                    <a:p>
                      <a:r>
                        <a:rPr sz="1600" b="0">
                          <a:solidFill>
                            <a:srgbClr val="F3F4F6"/>
                          </a:solidFill>
                          <a:latin typeface="Segoe UI"/>
                        </a:rPr>
                        <a:t>Family segment</a:t>
                      </a:r>
                    </a:p>
                  </a:txBody>
                  <a:tcPr anchor="ctr">
                    <a:solidFill>
                      <a:srgbClr val="111827"/>
                    </a:solidFill>
                  </a:tcPr>
                </a:tc>
                <a:tc>
                  <a:txBody>
                    <a:bodyPr/>
                    <a:lstStyle/>
                    <a:p>
                      <a:r>
                        <a:rPr sz="1600" b="0">
                          <a:solidFill>
                            <a:srgbClr val="F3F4F6"/>
                          </a:solidFill>
                          <a:latin typeface="Segoe UI"/>
                        </a:rPr>
                        <a:t>12%</a:t>
                      </a:r>
                    </a:p>
                  </a:txBody>
                  <a:tcPr anchor="ctr">
                    <a:solidFill>
                      <a:srgbClr val="111827"/>
                    </a:solidFill>
                  </a:tcPr>
                </a:tc>
              </a:tr>
              <a:tr h="502920">
                <a:tc>
                  <a:txBody>
                    <a:bodyPr/>
                    <a:lstStyle/>
                    <a:p>
                      <a:r>
                        <a:rPr sz="1600" b="0">
                          <a:solidFill>
                            <a:srgbClr val="F3F4F6"/>
                          </a:solidFill>
                          <a:latin typeface="Segoe UI"/>
                        </a:rPr>
                        <a:t>Bajaj Chetak</a:t>
                      </a:r>
                    </a:p>
                  </a:txBody>
                  <a:tcPr anchor="ctr">
                    <a:solidFill>
                      <a:srgbClr val="1F2937"/>
                    </a:solidFill>
                  </a:tcPr>
                </a:tc>
                <a:tc>
                  <a:txBody>
                    <a:bodyPr/>
                    <a:lstStyle/>
                    <a:p>
                      <a:r>
                        <a:rPr sz="1600" b="0">
                          <a:solidFill>
                            <a:srgbClr val="F3F4F6"/>
                          </a:solidFill>
                          <a:latin typeface="Segoe UI"/>
                        </a:rPr>
                        <a:t>Legacy brand</a:t>
                      </a:r>
                    </a:p>
                  </a:txBody>
                  <a:tcPr anchor="ctr">
                    <a:solidFill>
                      <a:srgbClr val="1F2937"/>
                    </a:solidFill>
                  </a:tcPr>
                </a:tc>
                <a:tc>
                  <a:txBody>
                    <a:bodyPr/>
                    <a:lstStyle/>
                    <a:p>
                      <a:r>
                        <a:rPr sz="1600" b="0">
                          <a:solidFill>
                            <a:srgbClr val="F3F4F6"/>
                          </a:solidFill>
                          <a:latin typeface="Segoe UI"/>
                        </a:rPr>
                        <a:t>Mid-premium</a:t>
                      </a:r>
                    </a:p>
                  </a:txBody>
                  <a:tcPr anchor="ctr">
                    <a:solidFill>
                      <a:srgbClr val="1F2937"/>
                    </a:solidFill>
                  </a:tcPr>
                </a:tc>
                <a:tc>
                  <a:txBody>
                    <a:bodyPr/>
                    <a:lstStyle/>
                    <a:p>
                      <a:r>
                        <a:rPr sz="1600" b="0">
                          <a:solidFill>
                            <a:srgbClr val="F3F4F6"/>
                          </a:solidFill>
                          <a:latin typeface="Segoe UI"/>
                        </a:rPr>
                        <a:t>10%</a:t>
                      </a:r>
                    </a:p>
                  </a:txBody>
                  <a:tcPr anchor="ctr">
                    <a:solidFill>
                      <a:srgbClr val="1F2937"/>
                    </a:solidFill>
                  </a:tcPr>
                </a:tc>
              </a:tr>
              <a:tr h="502920">
                <a:tc>
                  <a:txBody>
                    <a:bodyPr/>
                    <a:lstStyle/>
                    <a:p>
                      <a:r>
                        <a:rPr sz="1600" b="0">
                          <a:solidFill>
                            <a:srgbClr val="F3F4F6"/>
                          </a:solidFill>
                          <a:latin typeface="Segoe UI"/>
                        </a:rPr>
                        <a:t>Hero Electric</a:t>
                      </a:r>
                    </a:p>
                  </a:txBody>
                  <a:tcPr anchor="ctr">
                    <a:solidFill>
                      <a:srgbClr val="111827"/>
                    </a:solidFill>
                  </a:tcPr>
                </a:tc>
                <a:tc>
                  <a:txBody>
                    <a:bodyPr/>
                    <a:lstStyle/>
                    <a:p>
                      <a:r>
                        <a:rPr sz="1600" b="0">
                          <a:solidFill>
                            <a:srgbClr val="F3F4F6"/>
                          </a:solidFill>
                          <a:latin typeface="Segoe UI"/>
                        </a:rPr>
                        <a:t>Affordability</a:t>
                      </a:r>
                    </a:p>
                  </a:txBody>
                  <a:tcPr anchor="ctr">
                    <a:solidFill>
                      <a:srgbClr val="111827"/>
                    </a:solidFill>
                  </a:tcPr>
                </a:tc>
                <a:tc>
                  <a:txBody>
                    <a:bodyPr/>
                    <a:lstStyle/>
                    <a:p>
                      <a:r>
                        <a:rPr sz="1600" b="0">
                          <a:solidFill>
                            <a:srgbClr val="F3F4F6"/>
                          </a:solidFill>
                          <a:latin typeface="Segoe UI"/>
                        </a:rPr>
                        <a:t>Entry-level</a:t>
                      </a:r>
                    </a:p>
                  </a:txBody>
                  <a:tcPr anchor="ctr">
                    <a:solidFill>
                      <a:srgbClr val="111827"/>
                    </a:solidFill>
                  </a:tcPr>
                </a:tc>
                <a:tc>
                  <a:txBody>
                    <a:bodyPr/>
                    <a:lstStyle/>
                    <a:p>
                      <a:r>
                        <a:rPr sz="1600" b="0">
                          <a:solidFill>
                            <a:srgbClr val="F3F4F6"/>
                          </a:solidFill>
                          <a:latin typeface="Segoe UI"/>
                        </a:rPr>
                        <a:t>8%</a:t>
                      </a:r>
                    </a:p>
                  </a:txBody>
                  <a:tcPr anchor="ctr">
                    <a:solidFill>
                      <a:srgbClr val="111827"/>
                    </a:solidFill>
                  </a:tcPr>
                </a:tc>
              </a:tr>
            </a:tbl>
          </a:graphicData>
        </a:graphic>
      </p:graphicFrame>
      <p:sp>
        <p:nvSpPr>
          <p:cNvPr id="5" name="TextBox 4"/>
          <p:cNvSpPr txBox="1"/>
          <p:nvPr/>
        </p:nvSpPr>
        <p:spPr>
          <a:xfrm>
            <a:off x="548640" y="6400800"/>
            <a:ext cx="7315200" cy="274320"/>
          </a:xfrm>
          <a:prstGeom prst="rect">
            <a:avLst/>
          </a:prstGeom>
          <a:noFill/>
        </p:spPr>
        <p:txBody>
          <a:bodyPr wrap="square" anchor="t" lIns="45720" rIns="45720">
            <a:spAutoFit/>
          </a:bodyPr>
          <a:lstStyle/>
          <a:p>
            <a:pPr algn="l"/>
            <a:r>
              <a:rPr sz="1000" b="0" i="0">
                <a:solidFill>
                  <a:srgbClr val="9CA3AF"/>
                </a:solidFill>
                <a:latin typeface="Segoe UI"/>
              </a:rPr>
              <a:t>Indian Electric Two-Wheeler Market Outlook</a:t>
            </a:r>
          </a:p>
        </p:txBody>
      </p:sp>
      <p:sp>
        <p:nvSpPr>
          <p:cNvPr id="6" name="TextBox 5"/>
          <p:cNvSpPr txBox="1"/>
          <p:nvPr/>
        </p:nvSpPr>
        <p:spPr>
          <a:xfrm>
            <a:off x="10728655" y="6400800"/>
            <a:ext cx="914400" cy="274320"/>
          </a:xfrm>
          <a:prstGeom prst="rect">
            <a:avLst/>
          </a:prstGeom>
          <a:noFill/>
        </p:spPr>
        <p:txBody>
          <a:bodyPr wrap="square" anchor="t" lIns="45720" rIns="45720">
            <a:spAutoFit/>
          </a:bodyPr>
          <a:lstStyle/>
          <a:p>
            <a:pPr algn="r"/>
            <a:r>
              <a:rPr sz="1000" b="0" i="0">
                <a:solidFill>
                  <a:srgbClr val="9CA3AF"/>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anchor="ctr" lIns="45720" rIns="45720">
            <a:spAutoFit/>
          </a:bodyPr>
          <a:lstStyle/>
          <a:p>
            <a:pPr algn="l"/>
            <a:r>
              <a:rPr sz="3200" b="1" i="0">
                <a:solidFill>
                  <a:srgbClr val="F3F4F6"/>
                </a:solidFill>
                <a:latin typeface="Segoe UI"/>
              </a:rPr>
              <a:t>Overcoming Charging Hurdles</a:t>
            </a:r>
          </a:p>
        </p:txBody>
      </p:sp>
      <p:sp>
        <p:nvSpPr>
          <p:cNvPr id="3" name="Rectangle 2"/>
          <p:cNvSpPr/>
          <p:nvPr/>
        </p:nvSpPr>
        <p:spPr>
          <a:xfrm>
            <a:off x="548640" y="1234440"/>
            <a:ext cx="1097280" cy="64008"/>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00200"/>
            <a:ext cx="11094415" cy="4526280"/>
          </a:xfrm>
          <a:prstGeom prst="rect">
            <a:avLst/>
          </a:prstGeom>
          <a:noFill/>
        </p:spPr>
        <p:txBody>
          <a:bodyPr wrap="square">
            <a:spAutoFit/>
          </a:bodyPr>
          <a:lstStyle/>
          <a:p>
            <a:pPr>
              <a:spcAft>
                <a:spcPts val="2160"/>
              </a:spcAft>
            </a:pPr>
            <a:r>
              <a:rPr sz="1439">
                <a:solidFill>
                  <a:srgbClr val="60A5FA"/>
                </a:solidFill>
                <a:latin typeface="Segoe UI"/>
              </a:rPr>
              <a:t>■  </a:t>
            </a:r>
            <a:r>
              <a:rPr sz="2400">
                <a:solidFill>
                  <a:srgbClr val="F3F4F6"/>
                </a:solidFill>
                <a:latin typeface="Segoe UI"/>
              </a:rPr>
              <a:t>Limited public charging station availability</a:t>
            </a:r>
          </a:p>
          <a:p>
            <a:pPr>
              <a:spcAft>
                <a:spcPts val="2160"/>
              </a:spcAft>
            </a:pPr>
            <a:r>
              <a:rPr sz="1439">
                <a:solidFill>
                  <a:srgbClr val="60A5FA"/>
                </a:solidFill>
                <a:latin typeface="Segoe UI"/>
              </a:rPr>
              <a:t>■  </a:t>
            </a:r>
            <a:r>
              <a:rPr sz="2400">
                <a:solidFill>
                  <a:srgbClr val="F3F4F6"/>
                </a:solidFill>
                <a:latin typeface="Segoe UI"/>
              </a:rPr>
              <a:t>Inconsistent charging standards and interoperability</a:t>
            </a:r>
          </a:p>
          <a:p>
            <a:pPr>
              <a:spcAft>
                <a:spcPts val="2160"/>
              </a:spcAft>
            </a:pPr>
            <a:r>
              <a:rPr sz="1439">
                <a:solidFill>
                  <a:srgbClr val="60A5FA"/>
                </a:solidFill>
                <a:latin typeface="Segoe UI"/>
              </a:rPr>
              <a:t>■  </a:t>
            </a:r>
            <a:r>
              <a:rPr sz="2400">
                <a:solidFill>
                  <a:srgbClr val="F3F4F6"/>
                </a:solidFill>
                <a:latin typeface="Segoe UI"/>
              </a:rPr>
              <a:t>High upfront cost of infrastructure deployment</a:t>
            </a:r>
          </a:p>
          <a:p>
            <a:pPr>
              <a:spcAft>
                <a:spcPts val="2160"/>
              </a:spcAft>
            </a:pPr>
            <a:r>
              <a:rPr sz="1439">
                <a:solidFill>
                  <a:srgbClr val="60A5FA"/>
                </a:solidFill>
                <a:latin typeface="Segoe UI"/>
              </a:rPr>
              <a:t>■  </a:t>
            </a:r>
            <a:r>
              <a:rPr sz="2400">
                <a:solidFill>
                  <a:srgbClr val="F3F4F6"/>
                </a:solidFill>
                <a:latin typeface="Segoe UI"/>
              </a:rPr>
              <a:t>Range anxiety remains a key consumer concern</a:t>
            </a:r>
          </a:p>
          <a:p>
            <a:pPr>
              <a:spcAft>
                <a:spcPts val="2160"/>
              </a:spcAft>
            </a:pPr>
            <a:r>
              <a:rPr sz="1439">
                <a:solidFill>
                  <a:srgbClr val="60A5FA"/>
                </a:solidFill>
                <a:latin typeface="Segoe UI"/>
              </a:rPr>
              <a:t>■  </a:t>
            </a:r>
            <a:r>
              <a:rPr sz="2400">
                <a:solidFill>
                  <a:srgbClr val="F3F4F6"/>
                </a:solidFill>
                <a:latin typeface="Segoe UI"/>
              </a:rPr>
              <a:t>Challenges with grid capacity and power supply</a:t>
            </a:r>
          </a:p>
        </p:txBody>
      </p:sp>
      <p:sp>
        <p:nvSpPr>
          <p:cNvPr id="5" name="TextBox 4"/>
          <p:cNvSpPr txBox="1"/>
          <p:nvPr/>
        </p:nvSpPr>
        <p:spPr>
          <a:xfrm>
            <a:off x="548640" y="6400800"/>
            <a:ext cx="7315200" cy="274320"/>
          </a:xfrm>
          <a:prstGeom prst="rect">
            <a:avLst/>
          </a:prstGeom>
          <a:noFill/>
        </p:spPr>
        <p:txBody>
          <a:bodyPr wrap="square" anchor="t" lIns="45720" rIns="45720">
            <a:spAutoFit/>
          </a:bodyPr>
          <a:lstStyle/>
          <a:p>
            <a:pPr algn="l"/>
            <a:r>
              <a:rPr sz="1000" b="0" i="0">
                <a:solidFill>
                  <a:srgbClr val="9CA3AF"/>
                </a:solidFill>
                <a:latin typeface="Segoe UI"/>
              </a:rPr>
              <a:t>Indian Electric Two-Wheeler Market Outlook</a:t>
            </a:r>
          </a:p>
        </p:txBody>
      </p:sp>
      <p:sp>
        <p:nvSpPr>
          <p:cNvPr id="6" name="TextBox 5"/>
          <p:cNvSpPr txBox="1"/>
          <p:nvPr/>
        </p:nvSpPr>
        <p:spPr>
          <a:xfrm>
            <a:off x="10728655" y="6400800"/>
            <a:ext cx="914400" cy="274320"/>
          </a:xfrm>
          <a:prstGeom prst="rect">
            <a:avLst/>
          </a:prstGeom>
          <a:noFill/>
        </p:spPr>
        <p:txBody>
          <a:bodyPr wrap="square" anchor="t" lIns="45720" rIns="45720">
            <a:spAutoFit/>
          </a:bodyPr>
          <a:lstStyle/>
          <a:p>
            <a:pPr algn="r"/>
            <a:r>
              <a:rPr sz="1000" b="0" i="0">
                <a:solidFill>
                  <a:srgbClr val="9CA3AF"/>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anchor="ctr" lIns="45720" rIns="45720">
            <a:spAutoFit/>
          </a:bodyPr>
          <a:lstStyle/>
          <a:p>
            <a:pPr algn="l"/>
            <a:r>
              <a:rPr sz="3200" b="1" i="0">
                <a:solidFill>
                  <a:srgbClr val="F3F4F6"/>
                </a:solidFill>
                <a:latin typeface="Segoe UI"/>
              </a:rPr>
              <a:t>FAME II: Driving E2W Adoption</a:t>
            </a:r>
          </a:p>
        </p:txBody>
      </p:sp>
      <p:sp>
        <p:nvSpPr>
          <p:cNvPr id="3" name="Rectangle 2"/>
          <p:cNvSpPr/>
          <p:nvPr/>
        </p:nvSpPr>
        <p:spPr>
          <a:xfrm>
            <a:off x="548640" y="1234440"/>
            <a:ext cx="1097280" cy="64008"/>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645920"/>
            <a:ext cx="5364327" cy="4480560"/>
          </a:xfrm>
          <a:prstGeom prst="roundRect">
            <a:avLst>
              <a:gd name="adj" fmla="val 4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645920"/>
            <a:ext cx="5364327" cy="731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920240"/>
            <a:ext cx="4815687" cy="548640"/>
          </a:xfrm>
          <a:prstGeom prst="rect">
            <a:avLst/>
          </a:prstGeom>
          <a:noFill/>
        </p:spPr>
        <p:txBody>
          <a:bodyPr wrap="square" anchor="t" lIns="45720" rIns="45720">
            <a:spAutoFit/>
          </a:bodyPr>
          <a:lstStyle/>
          <a:p>
            <a:pPr algn="l"/>
            <a:r>
              <a:rPr sz="2200" b="1" i="0">
                <a:solidFill>
                  <a:srgbClr val="F3F4F6"/>
                </a:solidFill>
                <a:latin typeface="Segoe UI"/>
              </a:rPr>
              <a:t>Scheme Benefits</a:t>
            </a:r>
          </a:p>
        </p:txBody>
      </p:sp>
      <p:sp>
        <p:nvSpPr>
          <p:cNvPr id="7" name="TextBox 6"/>
          <p:cNvSpPr txBox="1"/>
          <p:nvPr/>
        </p:nvSpPr>
        <p:spPr>
          <a:xfrm>
            <a:off x="822960" y="2606040"/>
            <a:ext cx="4815687" cy="3291840"/>
          </a:xfrm>
          <a:prstGeom prst="rect">
            <a:avLst/>
          </a:prstGeom>
          <a:noFill/>
        </p:spPr>
        <p:txBody>
          <a:bodyPr wrap="square">
            <a:spAutoFit/>
          </a:bodyPr>
          <a:lstStyle/>
          <a:p>
            <a:pPr>
              <a:spcAft>
                <a:spcPts val="1620"/>
              </a:spcAft>
            </a:pPr>
            <a:r>
              <a:rPr sz="1080">
                <a:solidFill>
                  <a:srgbClr val="60A5FA"/>
                </a:solidFill>
                <a:latin typeface="Segoe UI"/>
              </a:rPr>
              <a:t>■  </a:t>
            </a:r>
            <a:r>
              <a:rPr sz="1800">
                <a:solidFill>
                  <a:srgbClr val="F3F4F6"/>
                </a:solidFill>
                <a:latin typeface="Segoe UI"/>
              </a:rPr>
              <a:t>Direct subsidy on vehicle purchase price</a:t>
            </a:r>
          </a:p>
          <a:p>
            <a:pPr>
              <a:spcAft>
                <a:spcPts val="1620"/>
              </a:spcAft>
            </a:pPr>
            <a:r>
              <a:rPr sz="1080">
                <a:solidFill>
                  <a:srgbClr val="60A5FA"/>
                </a:solidFill>
                <a:latin typeface="Segoe UI"/>
              </a:rPr>
              <a:t>■  </a:t>
            </a:r>
            <a:r>
              <a:rPr sz="1800">
                <a:solidFill>
                  <a:srgbClr val="F3F4F6"/>
                </a:solidFill>
                <a:latin typeface="Segoe UI"/>
              </a:rPr>
              <a:t>Incentivizes local manufacturing and supply chain</a:t>
            </a:r>
          </a:p>
          <a:p>
            <a:pPr>
              <a:spcAft>
                <a:spcPts val="1620"/>
              </a:spcAft>
            </a:pPr>
            <a:r>
              <a:rPr sz="1080">
                <a:solidFill>
                  <a:srgbClr val="60A5FA"/>
                </a:solidFill>
                <a:latin typeface="Segoe UI"/>
              </a:rPr>
              <a:t>■  </a:t>
            </a:r>
            <a:r>
              <a:rPr sz="1800">
                <a:solidFill>
                  <a:srgbClr val="F3F4F6"/>
                </a:solidFill>
                <a:latin typeface="Segoe UI"/>
              </a:rPr>
              <a:t>Boosts consumer affordability and adoption rates</a:t>
            </a:r>
          </a:p>
          <a:p>
            <a:pPr>
              <a:spcAft>
                <a:spcPts val="1620"/>
              </a:spcAft>
            </a:pPr>
            <a:r>
              <a:rPr sz="1080">
                <a:solidFill>
                  <a:srgbClr val="60A5FA"/>
                </a:solidFill>
                <a:latin typeface="Segoe UI"/>
              </a:rPr>
              <a:t>■  </a:t>
            </a:r>
            <a:r>
              <a:rPr sz="1800">
                <a:solidFill>
                  <a:srgbClr val="F3F4F6"/>
                </a:solidFill>
                <a:latin typeface="Segoe UI"/>
              </a:rPr>
              <a:t>Supports development of charging infrastructure</a:t>
            </a:r>
          </a:p>
        </p:txBody>
      </p:sp>
      <p:sp>
        <p:nvSpPr>
          <p:cNvPr id="8" name="Rounded Rectangle 7"/>
          <p:cNvSpPr/>
          <p:nvPr/>
        </p:nvSpPr>
        <p:spPr>
          <a:xfrm>
            <a:off x="6278727" y="1645920"/>
            <a:ext cx="5364327" cy="4480560"/>
          </a:xfrm>
          <a:prstGeom prst="roundRect">
            <a:avLst>
              <a:gd name="adj" fmla="val 4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78727" y="1645920"/>
            <a:ext cx="5364327" cy="73152"/>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53047" y="1920240"/>
            <a:ext cx="4815687" cy="548640"/>
          </a:xfrm>
          <a:prstGeom prst="rect">
            <a:avLst/>
          </a:prstGeom>
          <a:noFill/>
        </p:spPr>
        <p:txBody>
          <a:bodyPr wrap="square" anchor="t" lIns="45720" rIns="45720">
            <a:spAutoFit/>
          </a:bodyPr>
          <a:lstStyle/>
          <a:p>
            <a:pPr algn="l"/>
            <a:r>
              <a:rPr sz="2200" b="1" i="0">
                <a:solidFill>
                  <a:srgbClr val="F3F4F6"/>
                </a:solidFill>
                <a:latin typeface="Segoe UI"/>
              </a:rPr>
              <a:t>Evolving Landscape</a:t>
            </a:r>
          </a:p>
        </p:txBody>
      </p:sp>
      <p:sp>
        <p:nvSpPr>
          <p:cNvPr id="11" name="TextBox 10"/>
          <p:cNvSpPr txBox="1"/>
          <p:nvPr/>
        </p:nvSpPr>
        <p:spPr>
          <a:xfrm>
            <a:off x="6553047" y="2606040"/>
            <a:ext cx="4815687" cy="3291840"/>
          </a:xfrm>
          <a:prstGeom prst="rect">
            <a:avLst/>
          </a:prstGeom>
          <a:noFill/>
        </p:spPr>
        <p:txBody>
          <a:bodyPr wrap="square">
            <a:spAutoFit/>
          </a:bodyPr>
          <a:lstStyle/>
          <a:p>
            <a:pPr>
              <a:spcAft>
                <a:spcPts val="1620"/>
              </a:spcAft>
            </a:pPr>
            <a:r>
              <a:rPr sz="1080">
                <a:solidFill>
                  <a:srgbClr val="60A5FA"/>
                </a:solidFill>
                <a:latin typeface="Segoe UI"/>
              </a:rPr>
              <a:t>■  </a:t>
            </a:r>
            <a:r>
              <a:rPr sz="1800">
                <a:solidFill>
                  <a:srgbClr val="F3F4F6"/>
                </a:solidFill>
                <a:latin typeface="Segoe UI"/>
              </a:rPr>
              <a:t>Recent reductions in subsidy amounts</a:t>
            </a:r>
          </a:p>
          <a:p>
            <a:pPr>
              <a:spcAft>
                <a:spcPts val="1620"/>
              </a:spcAft>
            </a:pPr>
            <a:r>
              <a:rPr sz="1080">
                <a:solidFill>
                  <a:srgbClr val="60A5FA"/>
                </a:solidFill>
                <a:latin typeface="Segoe UI"/>
              </a:rPr>
              <a:t>■  </a:t>
            </a:r>
            <a:r>
              <a:rPr sz="1800">
                <a:solidFill>
                  <a:srgbClr val="F3F4F6"/>
                </a:solidFill>
                <a:latin typeface="Segoe UI"/>
              </a:rPr>
              <a:t>Market shifting towards demand-driven growth</a:t>
            </a:r>
          </a:p>
          <a:p>
            <a:pPr>
              <a:spcAft>
                <a:spcPts val="1620"/>
              </a:spcAft>
            </a:pPr>
            <a:r>
              <a:rPr sz="1080">
                <a:solidFill>
                  <a:srgbClr val="60A5FA"/>
                </a:solidFill>
                <a:latin typeface="Segoe UI"/>
              </a:rPr>
              <a:t>■  </a:t>
            </a:r>
            <a:r>
              <a:rPr sz="1800">
                <a:solidFill>
                  <a:srgbClr val="F3F4F6"/>
                </a:solidFill>
                <a:latin typeface="Segoe UI"/>
              </a:rPr>
              <a:t>Manufacturers absorbing higher costs</a:t>
            </a:r>
          </a:p>
          <a:p>
            <a:pPr>
              <a:spcAft>
                <a:spcPts val="1620"/>
              </a:spcAft>
            </a:pPr>
            <a:r>
              <a:rPr sz="1080">
                <a:solidFill>
                  <a:srgbClr val="60A5FA"/>
                </a:solidFill>
                <a:latin typeface="Segoe UI"/>
              </a:rPr>
              <a:t>■  </a:t>
            </a:r>
            <a:r>
              <a:rPr sz="1800">
                <a:solidFill>
                  <a:srgbClr val="F3F4F6"/>
                </a:solidFill>
                <a:latin typeface="Segoe UI"/>
              </a:rPr>
              <a:t>Need for new sustainable revenue models</a:t>
            </a:r>
          </a:p>
        </p:txBody>
      </p:sp>
      <p:sp>
        <p:nvSpPr>
          <p:cNvPr id="12" name="TextBox 11"/>
          <p:cNvSpPr txBox="1"/>
          <p:nvPr/>
        </p:nvSpPr>
        <p:spPr>
          <a:xfrm>
            <a:off x="548640" y="6400800"/>
            <a:ext cx="7315200" cy="274320"/>
          </a:xfrm>
          <a:prstGeom prst="rect">
            <a:avLst/>
          </a:prstGeom>
          <a:noFill/>
        </p:spPr>
        <p:txBody>
          <a:bodyPr wrap="square" anchor="t" lIns="45720" rIns="45720">
            <a:spAutoFit/>
          </a:bodyPr>
          <a:lstStyle/>
          <a:p>
            <a:pPr algn="l"/>
            <a:r>
              <a:rPr sz="1000" b="0" i="0">
                <a:solidFill>
                  <a:srgbClr val="9CA3AF"/>
                </a:solidFill>
                <a:latin typeface="Segoe UI"/>
              </a:rPr>
              <a:t>Indian Electric Two-Wheeler Market Outlook</a:t>
            </a:r>
          </a:p>
        </p:txBody>
      </p:sp>
      <p:sp>
        <p:nvSpPr>
          <p:cNvPr id="13" name="TextBox 12"/>
          <p:cNvSpPr txBox="1"/>
          <p:nvPr/>
        </p:nvSpPr>
        <p:spPr>
          <a:xfrm>
            <a:off x="10728655" y="6400800"/>
            <a:ext cx="914400" cy="274320"/>
          </a:xfrm>
          <a:prstGeom prst="rect">
            <a:avLst/>
          </a:prstGeom>
          <a:noFill/>
        </p:spPr>
        <p:txBody>
          <a:bodyPr wrap="square" anchor="t" lIns="45720" rIns="45720">
            <a:spAutoFit/>
          </a:bodyPr>
          <a:lstStyle/>
          <a:p>
            <a:pPr algn="r"/>
            <a:r>
              <a:rPr sz="1000" b="0" i="0">
                <a:solidFill>
                  <a:srgbClr val="9CA3AF"/>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anchor="ctr" lIns="45720" rIns="45720">
            <a:spAutoFit/>
          </a:bodyPr>
          <a:lstStyle/>
          <a:p>
            <a:pPr algn="l"/>
            <a:r>
              <a:rPr sz="3200" b="1" i="0">
                <a:solidFill>
                  <a:srgbClr val="F3F4F6"/>
                </a:solidFill>
                <a:latin typeface="Segoe UI"/>
              </a:rPr>
              <a:t>Our Go-to-Market Strategy</a:t>
            </a:r>
          </a:p>
        </p:txBody>
      </p:sp>
      <p:sp>
        <p:nvSpPr>
          <p:cNvPr id="3" name="Rectangle 2"/>
          <p:cNvSpPr/>
          <p:nvPr/>
        </p:nvSpPr>
        <p:spPr>
          <a:xfrm>
            <a:off x="548640" y="1234440"/>
            <a:ext cx="1097280" cy="64008"/>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00200"/>
            <a:ext cx="11094415" cy="4526280"/>
          </a:xfrm>
          <a:prstGeom prst="rect">
            <a:avLst/>
          </a:prstGeom>
          <a:noFill/>
        </p:spPr>
        <p:txBody>
          <a:bodyPr wrap="square">
            <a:spAutoFit/>
          </a:bodyPr>
          <a:lstStyle/>
          <a:p>
            <a:pPr>
              <a:spcAft>
                <a:spcPts val="2160"/>
              </a:spcAft>
            </a:pPr>
            <a:r>
              <a:rPr sz="1439">
                <a:solidFill>
                  <a:srgbClr val="60A5FA"/>
                </a:solidFill>
                <a:latin typeface="Segoe UI"/>
              </a:rPr>
              <a:t>■  </a:t>
            </a:r>
            <a:r>
              <a:rPr sz="2400">
                <a:solidFill>
                  <a:srgbClr val="F3F4F6"/>
                </a:solidFill>
                <a:latin typeface="Segoe UI"/>
              </a:rPr>
              <a:t>Targeting urban youth and last-mile delivery fleets</a:t>
            </a:r>
          </a:p>
          <a:p>
            <a:pPr>
              <a:spcAft>
                <a:spcPts val="2160"/>
              </a:spcAft>
            </a:pPr>
            <a:r>
              <a:rPr sz="1439">
                <a:solidFill>
                  <a:srgbClr val="60A5FA"/>
                </a:solidFill>
                <a:latin typeface="Segoe UI"/>
              </a:rPr>
              <a:t>■  </a:t>
            </a:r>
            <a:r>
              <a:rPr sz="2400">
                <a:solidFill>
                  <a:srgbClr val="F3F4F6"/>
                </a:solidFill>
                <a:latin typeface="Segoe UI"/>
              </a:rPr>
              <a:t>Online-first sales model with experience centers in key cities</a:t>
            </a:r>
          </a:p>
          <a:p>
            <a:pPr>
              <a:spcAft>
                <a:spcPts val="2160"/>
              </a:spcAft>
            </a:pPr>
            <a:r>
              <a:rPr sz="1439">
                <a:solidFill>
                  <a:srgbClr val="60A5FA"/>
                </a:solidFill>
                <a:latin typeface="Segoe UI"/>
              </a:rPr>
              <a:t>■  </a:t>
            </a:r>
            <a:r>
              <a:rPr sz="2400">
                <a:solidFill>
                  <a:srgbClr val="F3F4F6"/>
                </a:solidFill>
                <a:latin typeface="Segoe UI"/>
              </a:rPr>
              <a:t>Strategic partnerships for battery swapping networks</a:t>
            </a:r>
          </a:p>
          <a:p>
            <a:pPr>
              <a:spcAft>
                <a:spcPts val="2160"/>
              </a:spcAft>
            </a:pPr>
            <a:r>
              <a:rPr sz="1439">
                <a:solidFill>
                  <a:srgbClr val="60A5FA"/>
                </a:solidFill>
                <a:latin typeface="Segoe UI"/>
              </a:rPr>
              <a:t>■  </a:t>
            </a:r>
            <a:r>
              <a:rPr sz="2400">
                <a:solidFill>
                  <a:srgbClr val="F3F4F6"/>
                </a:solidFill>
                <a:latin typeface="Segoe UI"/>
              </a:rPr>
              <a:t>Focus on design, performance, and smart connectivity features</a:t>
            </a:r>
          </a:p>
          <a:p>
            <a:pPr>
              <a:spcAft>
                <a:spcPts val="2160"/>
              </a:spcAft>
            </a:pPr>
            <a:r>
              <a:rPr sz="1439">
                <a:solidFill>
                  <a:srgbClr val="60A5FA"/>
                </a:solidFill>
                <a:latin typeface="Segoe UI"/>
              </a:rPr>
              <a:t>■  </a:t>
            </a:r>
            <a:r>
              <a:rPr sz="2400">
                <a:solidFill>
                  <a:srgbClr val="F3F4F6"/>
                </a:solidFill>
                <a:latin typeface="Segoe UI"/>
              </a:rPr>
              <a:t>Aggressive digital marketing and community building</a:t>
            </a:r>
          </a:p>
        </p:txBody>
      </p:sp>
      <p:sp>
        <p:nvSpPr>
          <p:cNvPr id="5" name="TextBox 4"/>
          <p:cNvSpPr txBox="1"/>
          <p:nvPr/>
        </p:nvSpPr>
        <p:spPr>
          <a:xfrm>
            <a:off x="548640" y="6400800"/>
            <a:ext cx="7315200" cy="274320"/>
          </a:xfrm>
          <a:prstGeom prst="rect">
            <a:avLst/>
          </a:prstGeom>
          <a:noFill/>
        </p:spPr>
        <p:txBody>
          <a:bodyPr wrap="square" anchor="t" lIns="45720" rIns="45720">
            <a:spAutoFit/>
          </a:bodyPr>
          <a:lstStyle/>
          <a:p>
            <a:pPr algn="l"/>
            <a:r>
              <a:rPr sz="1000" b="0" i="0">
                <a:solidFill>
                  <a:srgbClr val="9CA3AF"/>
                </a:solidFill>
                <a:latin typeface="Segoe UI"/>
              </a:rPr>
              <a:t>Indian Electric Two-Wheeler Market Outlook</a:t>
            </a:r>
          </a:p>
        </p:txBody>
      </p:sp>
      <p:sp>
        <p:nvSpPr>
          <p:cNvPr id="6" name="TextBox 5"/>
          <p:cNvSpPr txBox="1"/>
          <p:nvPr/>
        </p:nvSpPr>
        <p:spPr>
          <a:xfrm>
            <a:off x="10728655" y="6400800"/>
            <a:ext cx="914400" cy="274320"/>
          </a:xfrm>
          <a:prstGeom prst="rect">
            <a:avLst/>
          </a:prstGeom>
          <a:noFill/>
        </p:spPr>
        <p:txBody>
          <a:bodyPr wrap="square" anchor="t" lIns="45720" rIns="45720">
            <a:spAutoFit/>
          </a:bodyPr>
          <a:lstStyle/>
          <a:p>
            <a:pPr algn="r"/>
            <a:r>
              <a:rPr sz="1000" b="0" i="0">
                <a:solidFill>
                  <a:srgbClr val="9CA3AF"/>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anchor="ctr" lIns="45720" rIns="45720">
            <a:spAutoFit/>
          </a:bodyPr>
          <a:lstStyle/>
          <a:p>
            <a:pPr algn="l"/>
            <a:r>
              <a:rPr sz="3200" b="1" i="0">
                <a:solidFill>
                  <a:srgbClr val="F3F4F6"/>
                </a:solidFill>
                <a:latin typeface="Segoe UI"/>
              </a:rPr>
              <a:t>Our Competitive Edge</a:t>
            </a:r>
          </a:p>
        </p:txBody>
      </p:sp>
      <p:sp>
        <p:nvSpPr>
          <p:cNvPr id="3" name="Rectangle 2"/>
          <p:cNvSpPr/>
          <p:nvPr/>
        </p:nvSpPr>
        <p:spPr>
          <a:xfrm>
            <a:off x="548640" y="1234440"/>
            <a:ext cx="1097280" cy="64008"/>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00200"/>
            <a:ext cx="11094415" cy="4526280"/>
          </a:xfrm>
          <a:prstGeom prst="rect">
            <a:avLst/>
          </a:prstGeom>
          <a:noFill/>
        </p:spPr>
        <p:txBody>
          <a:bodyPr wrap="square">
            <a:spAutoFit/>
          </a:bodyPr>
          <a:lstStyle/>
          <a:p>
            <a:pPr>
              <a:spcAft>
                <a:spcPts val="2160"/>
              </a:spcAft>
            </a:pPr>
            <a:r>
              <a:rPr sz="1439">
                <a:solidFill>
                  <a:srgbClr val="60A5FA"/>
                </a:solidFill>
                <a:latin typeface="Segoe UI"/>
              </a:rPr>
              <a:t>■  </a:t>
            </a:r>
            <a:r>
              <a:rPr sz="2400">
                <a:solidFill>
                  <a:srgbClr val="F3F4F6"/>
                </a:solidFill>
                <a:latin typeface="Segoe UI"/>
              </a:rPr>
              <a:t>Unique modular battery architecture for flexibility</a:t>
            </a:r>
          </a:p>
          <a:p>
            <a:pPr>
              <a:spcAft>
                <a:spcPts val="2160"/>
              </a:spcAft>
            </a:pPr>
            <a:r>
              <a:rPr sz="1439">
                <a:solidFill>
                  <a:srgbClr val="60A5FA"/>
                </a:solidFill>
                <a:latin typeface="Segoe UI"/>
              </a:rPr>
              <a:t>■  </a:t>
            </a:r>
            <a:r>
              <a:rPr sz="2400">
                <a:solidFill>
                  <a:srgbClr val="F3F4F6"/>
                </a:solidFill>
                <a:latin typeface="Segoe UI"/>
              </a:rPr>
              <a:t>Proprietary fast-charging technology for convenience</a:t>
            </a:r>
          </a:p>
          <a:p>
            <a:pPr>
              <a:spcAft>
                <a:spcPts val="2160"/>
              </a:spcAft>
            </a:pPr>
            <a:r>
              <a:rPr sz="1439">
                <a:solidFill>
                  <a:srgbClr val="60A5FA"/>
                </a:solidFill>
                <a:latin typeface="Segoe UI"/>
              </a:rPr>
              <a:t>■  </a:t>
            </a:r>
            <a:r>
              <a:rPr sz="2400">
                <a:solidFill>
                  <a:srgbClr val="F3F4F6"/>
                </a:solidFill>
                <a:latin typeface="Segoe UI"/>
              </a:rPr>
              <a:t>Superior build quality and reliability standards</a:t>
            </a:r>
          </a:p>
          <a:p>
            <a:pPr>
              <a:spcAft>
                <a:spcPts val="2160"/>
              </a:spcAft>
            </a:pPr>
            <a:r>
              <a:rPr sz="1439">
                <a:solidFill>
                  <a:srgbClr val="60A5FA"/>
                </a:solidFill>
                <a:latin typeface="Segoe UI"/>
              </a:rPr>
              <a:t>■  </a:t>
            </a:r>
            <a:r>
              <a:rPr sz="2400">
                <a:solidFill>
                  <a:srgbClr val="F3F4F6"/>
                </a:solidFill>
                <a:latin typeface="Segoe UI"/>
              </a:rPr>
              <a:t>Innovative subscription-based service packages</a:t>
            </a:r>
          </a:p>
          <a:p>
            <a:pPr>
              <a:spcAft>
                <a:spcPts val="2160"/>
              </a:spcAft>
            </a:pPr>
            <a:r>
              <a:rPr sz="1439">
                <a:solidFill>
                  <a:srgbClr val="60A5FA"/>
                </a:solidFill>
                <a:latin typeface="Segoe UI"/>
              </a:rPr>
              <a:t>■  </a:t>
            </a:r>
            <a:r>
              <a:rPr sz="2400">
                <a:solidFill>
                  <a:srgbClr val="F3F4F6"/>
                </a:solidFill>
                <a:latin typeface="Segoe UI"/>
              </a:rPr>
              <a:t>Strong investor backing and experienced leadership team</a:t>
            </a:r>
          </a:p>
        </p:txBody>
      </p:sp>
      <p:sp>
        <p:nvSpPr>
          <p:cNvPr id="5" name="TextBox 4"/>
          <p:cNvSpPr txBox="1"/>
          <p:nvPr/>
        </p:nvSpPr>
        <p:spPr>
          <a:xfrm>
            <a:off x="548640" y="6400800"/>
            <a:ext cx="7315200" cy="274320"/>
          </a:xfrm>
          <a:prstGeom prst="rect">
            <a:avLst/>
          </a:prstGeom>
          <a:noFill/>
        </p:spPr>
        <p:txBody>
          <a:bodyPr wrap="square" anchor="t" lIns="45720" rIns="45720">
            <a:spAutoFit/>
          </a:bodyPr>
          <a:lstStyle/>
          <a:p>
            <a:pPr algn="l"/>
            <a:r>
              <a:rPr sz="1000" b="0" i="0">
                <a:solidFill>
                  <a:srgbClr val="9CA3AF"/>
                </a:solidFill>
                <a:latin typeface="Segoe UI"/>
              </a:rPr>
              <a:t>Indian Electric Two-Wheeler Market Outlook</a:t>
            </a:r>
          </a:p>
        </p:txBody>
      </p:sp>
      <p:sp>
        <p:nvSpPr>
          <p:cNvPr id="6" name="TextBox 5"/>
          <p:cNvSpPr txBox="1"/>
          <p:nvPr/>
        </p:nvSpPr>
        <p:spPr>
          <a:xfrm>
            <a:off x="10728655" y="6400800"/>
            <a:ext cx="914400" cy="274320"/>
          </a:xfrm>
          <a:prstGeom prst="rect">
            <a:avLst/>
          </a:prstGeom>
          <a:noFill/>
        </p:spPr>
        <p:txBody>
          <a:bodyPr wrap="square" anchor="t" lIns="45720" rIns="45720">
            <a:spAutoFit/>
          </a:bodyPr>
          <a:lstStyle/>
          <a:p>
            <a:pPr algn="r"/>
            <a:r>
              <a:rPr sz="1000" b="0" i="0">
                <a:solidFill>
                  <a:srgbClr val="9CA3AF"/>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6629400"/>
            <a:ext cx="12191695" cy="22860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377440"/>
            <a:ext cx="109728" cy="173736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194560"/>
            <a:ext cx="10728655" cy="1371600"/>
          </a:xfrm>
          <a:prstGeom prst="rect">
            <a:avLst/>
          </a:prstGeom>
          <a:noFill/>
        </p:spPr>
        <p:txBody>
          <a:bodyPr wrap="square" anchor="b" lIns="45720" rIns="45720">
            <a:spAutoFit/>
          </a:bodyPr>
          <a:lstStyle/>
          <a:p>
            <a:pPr algn="l"/>
            <a:r>
              <a:rPr sz="4400" b="1" i="0">
                <a:solidFill>
                  <a:srgbClr val="F9FAFB"/>
                </a:solidFill>
                <a:latin typeface="Segoe UI"/>
              </a:rPr>
              <a:t>Seize the Future of Mobility</a:t>
            </a:r>
          </a:p>
        </p:txBody>
      </p:sp>
      <p:sp>
        <p:nvSpPr>
          <p:cNvPr id="5" name="TextBox 4"/>
          <p:cNvSpPr txBox="1"/>
          <p:nvPr/>
        </p:nvSpPr>
        <p:spPr>
          <a:xfrm>
            <a:off x="914400" y="3657600"/>
            <a:ext cx="10728655" cy="914400"/>
          </a:xfrm>
          <a:prstGeom prst="rect">
            <a:avLst/>
          </a:prstGeom>
          <a:noFill/>
        </p:spPr>
        <p:txBody>
          <a:bodyPr wrap="square" anchor="t" lIns="45720" rIns="45720">
            <a:spAutoFit/>
          </a:bodyPr>
          <a:lstStyle/>
          <a:p>
            <a:pPr algn="l"/>
            <a:r>
              <a:rPr sz="2200" b="0" i="0">
                <a:solidFill>
                  <a:srgbClr val="F9FAFB"/>
                </a:solidFill>
                <a:latin typeface="Segoe UI"/>
              </a:rPr>
              <a:t>Invest in [Your Company Name] Today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Indian Electric Two-Wheeler Market Outlook</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