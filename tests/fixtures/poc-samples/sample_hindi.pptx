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नमस्कार और तिमाही आईटी सुरक्षा जागरूकता प्रशिक्षण में आपका स्वागत है। आज हम आपकी डिजिटल सुरक्षा को मजबूत करने के लिए महत्वपूर्ण विषयों पर चर्चा करेंगे। हमारा लक्ष्य आपको ऑनलाइन खतरों से बचाने और हमारी संगठनात्मक जानकारी को सुरक्षित रखने में मदद करना 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फ़िशिंग एक धोखाधड़ी का प्रयास है जिसमें हमलावर आपको संवेदनशील जानकारी प्रकट करने के लिए प्रेरित करते हैं। ऐसे ईमेल या संदेशों से सावधान रहें जो आपको तुरंत कार्रवाई करने के लिए दबाव डालते हैं। हमेशा प्रेषक की पहचान और किसी भी लिंक या अटैचमेंट की वैधता की सावधानीपूर्वक जांच करें।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मजबूत पासवर्ड हमारी डिजिटल सुरक्षा की पहली पंक्ति हैं। सुनिश्चित करें कि आपके पासवर्ड लंबे, जटिल और अक्षरों, संख्याओं और विशेष प्रतीकों का मिश्रण हों। कभी भी एक ही पासवर्ड का कई खातों के लिए उपयोग न करें और उन्हें किसी के साथ साझा न करें। पासवर्ड मैनेजर का उपयोग करना आपके सभी जटिल पासवर्ड को सुरक्षित रूप से प्रबंधित करने का एक शानदार तरीका 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बहु-कारक प्रमाणीकरण (MFA) आपके खातों में सुरक्षा की एक महत्वपूर्ण अतिरिक्त परत जोड़ता है। यह पासवर्ड के अलावा, पहचान के कम से कम एक अतिरिक्त रूप की आवश्यकता होती है, जैसे आपके फोन पर एक कोड या एक फिंगरप्रिंट। MFA यह सुनिश्चित करता है कि भले ही आपका पासवर्ड चोरी हो जाए, फिर भी आपका खाता सुरक्षित रहता है, क्योंकि घुसपैठिया दूसरे सत्यापन कारक को प्रदान नहीं कर पाएगा।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सुरक्षा घटनाओं की तुरंत रिपोर्ट करना महत्वपूर्ण है। यदि आपको कोई संदिग्ध ईमेल या संदेश मिलता है, या आप अपने खाते में कोई अनधिकृत गतिविधि देखते हैं, तो तुरंत हमारी आईटी टीम को सूचित करें। यदि आपका कोई उपकरण खो जाता है या चोरी हो जाता है, तो भी इसकी रिपोर्ट करना अनिवार्य है। जितनी जल्दी हम किसी घटना के बारे में जानते हैं, उतनी ही जल्दी हम उसे संबोधित कर सकते हैं और संभावित क्षति को कम कर सकते 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इस प्रशिक्षण में भाग लेने के लिए धन्यवाद। आपकी सुरक्षा हमारी सर्वोच्च प्राथमिकता है, और हम आपको ऑनलाइन सुरक्षित रहने के लिए आवश्यक उपकरण और ज्ञान प्रदान करने के लिए प्रतिबद्ध हैं। याद रखें, एक छोटी सी सावधानी भी बड़े खतरों को टाल सकती है। सुरक्षित रहें और सतर्क रहें।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800" b="1" i="0">
                <a:solidFill>
                  <a:srgbClr val="FFFFFF"/>
                </a:solidFill>
                <a:latin typeface="Segoe UI"/>
              </a:rPr>
              <a:t>तिमाही आईटी सुरक्षा जागरूकता प्रशिक्षण</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FFFFF"/>
                </a:solidFill>
                <a:latin typeface="Segoe UI"/>
              </a:rPr>
              <a:t>अपनी डिजिटल सुरक्षा को मजबूत करें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फ़िशिंग: डिजिटल खतरे</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13A89E"/>
                </a:solidFill>
                <a:latin typeface="Segoe UI"/>
              </a:rPr>
              <a:t>■  </a:t>
            </a:r>
            <a:r>
              <a:rPr sz="2400">
                <a:solidFill>
                  <a:srgbClr val="1B2430"/>
                </a:solidFill>
                <a:latin typeface="Segoe UI"/>
              </a:rPr>
              <a:t>अनचाहे ईमेल या संदेश</a:t>
            </a:r>
          </a:p>
          <a:p>
            <a:pPr>
              <a:spcAft>
                <a:spcPts val="2160"/>
              </a:spcAft>
            </a:pPr>
            <a:r>
              <a:rPr sz="1439">
                <a:solidFill>
                  <a:srgbClr val="13A89E"/>
                </a:solidFill>
                <a:latin typeface="Segoe UI"/>
              </a:rPr>
              <a:t>■  </a:t>
            </a:r>
            <a:r>
              <a:rPr sz="2400">
                <a:solidFill>
                  <a:srgbClr val="1B2430"/>
                </a:solidFill>
                <a:latin typeface="Segoe UI"/>
              </a:rPr>
              <a:t>तत्काल कार्रवाई का आग्रह</a:t>
            </a:r>
          </a:p>
          <a:p>
            <a:pPr>
              <a:spcAft>
                <a:spcPts val="2160"/>
              </a:spcAft>
            </a:pPr>
            <a:r>
              <a:rPr sz="1439">
                <a:solidFill>
                  <a:srgbClr val="13A89E"/>
                </a:solidFill>
                <a:latin typeface="Segoe UI"/>
              </a:rPr>
              <a:t>■  </a:t>
            </a:r>
            <a:r>
              <a:rPr sz="2400">
                <a:solidFill>
                  <a:srgbClr val="1B2430"/>
                </a:solidFill>
                <a:latin typeface="Segoe UI"/>
              </a:rPr>
              <a:t>संदिग्ध लिंक या अटैचमेंट</a:t>
            </a:r>
          </a:p>
          <a:p>
            <a:pPr>
              <a:spcAft>
                <a:spcPts val="2160"/>
              </a:spcAft>
            </a:pPr>
            <a:r>
              <a:rPr sz="1439">
                <a:solidFill>
                  <a:srgbClr val="13A89E"/>
                </a:solidFill>
                <a:latin typeface="Segoe UI"/>
              </a:rPr>
              <a:t>■  </a:t>
            </a:r>
            <a:r>
              <a:rPr sz="2400">
                <a:solidFill>
                  <a:srgbClr val="1B2430"/>
                </a:solidFill>
                <a:latin typeface="Segoe UI"/>
              </a:rPr>
              <a:t>व्यक्तिगत जानकारी मांगना</a:t>
            </a:r>
          </a:p>
          <a:p>
            <a:pPr>
              <a:spcAft>
                <a:spcPts val="2160"/>
              </a:spcAft>
            </a:pPr>
            <a:r>
              <a:rPr sz="1439">
                <a:solidFill>
                  <a:srgbClr val="13A89E"/>
                </a:solidFill>
                <a:latin typeface="Segoe UI"/>
              </a:rPr>
              <a:t>■  </a:t>
            </a:r>
            <a:r>
              <a:rPr sz="2400">
                <a:solidFill>
                  <a:srgbClr val="1B2430"/>
                </a:solidFill>
                <a:latin typeface="Segoe UI"/>
              </a:rPr>
              <a:t>गलत वर्तनी और व्याकरण</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तिमाही आईटी सुरक्षा जागरूकता प्रशिक्षण</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मजबूत पासवर्ड बनाएं</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45920"/>
            <a:ext cx="5364327" cy="448056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5364327" cy="7315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4815687" cy="548640"/>
          </a:xfrm>
          <a:prstGeom prst="rect">
            <a:avLst/>
          </a:prstGeom>
          <a:noFill/>
        </p:spPr>
        <p:txBody>
          <a:bodyPr wrap="square" anchor="t" lIns="45720" rIns="45720">
            <a:spAutoFit/>
          </a:bodyPr>
          <a:lstStyle/>
          <a:p>
            <a:pPr algn="l"/>
            <a:r>
              <a:rPr sz="2200" b="1" i="0">
                <a:solidFill>
                  <a:srgbClr val="1B2430"/>
                </a:solidFill>
                <a:latin typeface="Segoe UI"/>
              </a:rPr>
              <a:t>क्या करें</a:t>
            </a:r>
          </a:p>
        </p:txBody>
      </p:sp>
      <p:sp>
        <p:nvSpPr>
          <p:cNvPr id="7" name="TextBox 6"/>
          <p:cNvSpPr txBox="1"/>
          <p:nvPr/>
        </p:nvSpPr>
        <p:spPr>
          <a:xfrm>
            <a:off x="822960" y="2606040"/>
            <a:ext cx="4815687" cy="3291840"/>
          </a:xfrm>
          <a:prstGeom prst="rect">
            <a:avLst/>
          </a:prstGeom>
          <a:noFill/>
        </p:spPr>
        <p:txBody>
          <a:bodyPr wrap="square">
            <a:spAutoFit/>
          </a:bodyPr>
          <a:lstStyle/>
          <a:p>
            <a:pPr>
              <a:spcAft>
                <a:spcPts val="1620"/>
              </a:spcAft>
            </a:pPr>
            <a:r>
              <a:rPr sz="1080">
                <a:solidFill>
                  <a:srgbClr val="13A89E"/>
                </a:solidFill>
                <a:latin typeface="Segoe UI"/>
              </a:rPr>
              <a:t>■  </a:t>
            </a:r>
            <a:r>
              <a:rPr sz="1800">
                <a:solidFill>
                  <a:srgbClr val="1B2430"/>
                </a:solidFill>
                <a:latin typeface="Segoe UI"/>
              </a:rPr>
              <a:t>लंबे और जटिल पासवर्ड</a:t>
            </a:r>
          </a:p>
          <a:p>
            <a:pPr>
              <a:spcAft>
                <a:spcPts val="1620"/>
              </a:spcAft>
            </a:pPr>
            <a:r>
              <a:rPr sz="1080">
                <a:solidFill>
                  <a:srgbClr val="13A89E"/>
                </a:solidFill>
                <a:latin typeface="Segoe UI"/>
              </a:rPr>
              <a:t>■  </a:t>
            </a:r>
            <a:r>
              <a:rPr sz="1800">
                <a:solidFill>
                  <a:srgbClr val="1B2430"/>
                </a:solidFill>
                <a:latin typeface="Segoe UI"/>
              </a:rPr>
              <a:t>अक्षर, संख्या, प्रतीक</a:t>
            </a:r>
          </a:p>
          <a:p>
            <a:pPr>
              <a:spcAft>
                <a:spcPts val="1620"/>
              </a:spcAft>
            </a:pPr>
            <a:r>
              <a:rPr sz="1080">
                <a:solidFill>
                  <a:srgbClr val="13A89E"/>
                </a:solidFill>
                <a:latin typeface="Segoe UI"/>
              </a:rPr>
              <a:t>■  </a:t>
            </a:r>
            <a:r>
              <a:rPr sz="1800">
                <a:solidFill>
                  <a:srgbClr val="1B2430"/>
                </a:solidFill>
                <a:latin typeface="Segoe UI"/>
              </a:rPr>
              <a:t>हर खाते के लिए अलग</a:t>
            </a:r>
          </a:p>
          <a:p>
            <a:pPr>
              <a:spcAft>
                <a:spcPts val="1620"/>
              </a:spcAft>
            </a:pPr>
            <a:r>
              <a:rPr sz="1080">
                <a:solidFill>
                  <a:srgbClr val="13A89E"/>
                </a:solidFill>
                <a:latin typeface="Segoe UI"/>
              </a:rPr>
              <a:t>■  </a:t>
            </a:r>
            <a:r>
              <a:rPr sz="1800">
                <a:solidFill>
                  <a:srgbClr val="1B2430"/>
                </a:solidFill>
                <a:latin typeface="Segoe UI"/>
              </a:rPr>
              <a:t>पासवर्ड मैनेजर का उपयोग करें</a:t>
            </a:r>
          </a:p>
        </p:txBody>
      </p:sp>
      <p:sp>
        <p:nvSpPr>
          <p:cNvPr id="8" name="Rounded Rectangle 7"/>
          <p:cNvSpPr/>
          <p:nvPr/>
        </p:nvSpPr>
        <p:spPr>
          <a:xfrm>
            <a:off x="6278727" y="1645920"/>
            <a:ext cx="5364327" cy="448056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78727" y="1645920"/>
            <a:ext cx="5364327" cy="73152"/>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920240"/>
            <a:ext cx="4815687" cy="548640"/>
          </a:xfrm>
          <a:prstGeom prst="rect">
            <a:avLst/>
          </a:prstGeom>
          <a:noFill/>
        </p:spPr>
        <p:txBody>
          <a:bodyPr wrap="square" anchor="t" lIns="45720" rIns="45720">
            <a:spAutoFit/>
          </a:bodyPr>
          <a:lstStyle/>
          <a:p>
            <a:pPr algn="l"/>
            <a:r>
              <a:rPr sz="2200" b="1" i="0">
                <a:solidFill>
                  <a:srgbClr val="1B2430"/>
                </a:solidFill>
                <a:latin typeface="Segoe UI"/>
              </a:rPr>
              <a:t>क्या न करें</a:t>
            </a:r>
          </a:p>
        </p:txBody>
      </p:sp>
      <p:sp>
        <p:nvSpPr>
          <p:cNvPr id="11" name="TextBox 10"/>
          <p:cNvSpPr txBox="1"/>
          <p:nvPr/>
        </p:nvSpPr>
        <p:spPr>
          <a:xfrm>
            <a:off x="6553047" y="2606040"/>
            <a:ext cx="4815687" cy="3291840"/>
          </a:xfrm>
          <a:prstGeom prst="rect">
            <a:avLst/>
          </a:prstGeom>
          <a:noFill/>
        </p:spPr>
        <p:txBody>
          <a:bodyPr wrap="square">
            <a:spAutoFit/>
          </a:bodyPr>
          <a:lstStyle/>
          <a:p>
            <a:pPr>
              <a:spcAft>
                <a:spcPts val="1620"/>
              </a:spcAft>
            </a:pPr>
            <a:r>
              <a:rPr sz="1080">
                <a:solidFill>
                  <a:srgbClr val="13A89E"/>
                </a:solidFill>
                <a:latin typeface="Segoe UI"/>
              </a:rPr>
              <a:t>■  </a:t>
            </a:r>
            <a:r>
              <a:rPr sz="1800">
                <a:solidFill>
                  <a:srgbClr val="1B2430"/>
                </a:solidFill>
                <a:latin typeface="Segoe UI"/>
              </a:rPr>
              <a:t>आसान अनुमान वाले पासवर्ड</a:t>
            </a:r>
          </a:p>
          <a:p>
            <a:pPr>
              <a:spcAft>
                <a:spcPts val="1620"/>
              </a:spcAft>
            </a:pPr>
            <a:r>
              <a:rPr sz="1080">
                <a:solidFill>
                  <a:srgbClr val="13A89E"/>
                </a:solidFill>
                <a:latin typeface="Segoe UI"/>
              </a:rPr>
              <a:t>■  </a:t>
            </a:r>
            <a:r>
              <a:rPr sz="1800">
                <a:solidFill>
                  <a:srgbClr val="1B2430"/>
                </a:solidFill>
                <a:latin typeface="Segoe UI"/>
              </a:rPr>
              <a:t>व्यक्तिगत जानकारी शामिल करना</a:t>
            </a:r>
          </a:p>
          <a:p>
            <a:pPr>
              <a:spcAft>
                <a:spcPts val="1620"/>
              </a:spcAft>
            </a:pPr>
            <a:r>
              <a:rPr sz="1080">
                <a:solidFill>
                  <a:srgbClr val="13A89E"/>
                </a:solidFill>
                <a:latin typeface="Segoe UI"/>
              </a:rPr>
              <a:t>■  </a:t>
            </a:r>
            <a:r>
              <a:rPr sz="1800">
                <a:solidFill>
                  <a:srgbClr val="1B2430"/>
                </a:solidFill>
                <a:latin typeface="Segoe UI"/>
              </a:rPr>
              <a:t>एक ही पासवर्ड का दोबारा उपयोग</a:t>
            </a:r>
          </a:p>
          <a:p>
            <a:pPr>
              <a:spcAft>
                <a:spcPts val="1620"/>
              </a:spcAft>
            </a:pPr>
            <a:r>
              <a:rPr sz="1080">
                <a:solidFill>
                  <a:srgbClr val="13A89E"/>
                </a:solidFill>
                <a:latin typeface="Segoe UI"/>
              </a:rPr>
              <a:t>■  </a:t>
            </a:r>
            <a:r>
              <a:rPr sz="1800">
                <a:solidFill>
                  <a:srgbClr val="1B2430"/>
                </a:solidFill>
                <a:latin typeface="Segoe UI"/>
              </a:rPr>
              <a:t>पासवर्ड साझा करना</a:t>
            </a:r>
          </a:p>
        </p:txBody>
      </p:sp>
      <p:sp>
        <p:nvSpPr>
          <p:cNvPr id="12" name="TextBox 11"/>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तिमाही आईटी सुरक्षा जागरूकता प्रशिक्षण</a:t>
            </a:r>
          </a:p>
        </p:txBody>
      </p:sp>
      <p:sp>
        <p:nvSpPr>
          <p:cNvPr id="13" name="TextBox 12"/>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बहु-कारक प्रमाणीकरण (MFA)</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13A89E"/>
                </a:solidFill>
                <a:latin typeface="Segoe UI"/>
              </a:rPr>
              <a:t>■  </a:t>
            </a:r>
            <a:r>
              <a:rPr sz="2400">
                <a:solidFill>
                  <a:srgbClr val="1B2430"/>
                </a:solidFill>
                <a:latin typeface="Segoe UI"/>
              </a:rPr>
              <a:t>सुरक्षा की अतिरिक्त परत</a:t>
            </a:r>
          </a:p>
          <a:p>
            <a:pPr>
              <a:spcAft>
                <a:spcPts val="2160"/>
              </a:spcAft>
            </a:pPr>
            <a:r>
              <a:rPr sz="1439">
                <a:solidFill>
                  <a:srgbClr val="13A89E"/>
                </a:solidFill>
                <a:latin typeface="Segoe UI"/>
              </a:rPr>
              <a:t>■  </a:t>
            </a:r>
            <a:r>
              <a:rPr sz="2400">
                <a:solidFill>
                  <a:srgbClr val="1B2430"/>
                </a:solidFill>
                <a:latin typeface="Segoe UI"/>
              </a:rPr>
              <a:t>दो या अधिक सत्यापन विधियाँ</a:t>
            </a:r>
          </a:p>
          <a:p>
            <a:pPr>
              <a:spcAft>
                <a:spcPts val="2160"/>
              </a:spcAft>
            </a:pPr>
            <a:r>
              <a:rPr sz="1439">
                <a:solidFill>
                  <a:srgbClr val="13A89E"/>
                </a:solidFill>
                <a:latin typeface="Segoe UI"/>
              </a:rPr>
              <a:t>■  </a:t>
            </a:r>
            <a:r>
              <a:rPr sz="2400">
                <a:solidFill>
                  <a:srgbClr val="1B2430"/>
                </a:solidFill>
                <a:latin typeface="Segoe UI"/>
              </a:rPr>
              <a:t>पासवर्ड चोरी होने पर भी सुरक्षा</a:t>
            </a:r>
          </a:p>
          <a:p>
            <a:pPr>
              <a:spcAft>
                <a:spcPts val="2160"/>
              </a:spcAft>
            </a:pPr>
            <a:r>
              <a:rPr sz="1439">
                <a:solidFill>
                  <a:srgbClr val="13A89E"/>
                </a:solidFill>
                <a:latin typeface="Segoe UI"/>
              </a:rPr>
              <a:t>■  </a:t>
            </a:r>
            <a:r>
              <a:rPr sz="2400">
                <a:solidFill>
                  <a:srgbClr val="1B2430"/>
                </a:solidFill>
                <a:latin typeface="Segoe UI"/>
              </a:rPr>
              <a:t>अपने खातों को सुरक्षित रखें</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तिमाही आईटी सुरक्षा जागरूकता प्रशिक्षण</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सुरक्षा घटनाओं की रिपोर्ट करें</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13A89E"/>
                </a:solidFill>
                <a:latin typeface="Segoe UI"/>
              </a:rPr>
              <a:t>■  </a:t>
            </a:r>
            <a:r>
              <a:rPr sz="2400">
                <a:solidFill>
                  <a:srgbClr val="1B2430"/>
                </a:solidFill>
                <a:latin typeface="Segoe UI"/>
              </a:rPr>
              <a:t>संदिग्ध ईमेल/संदेश</a:t>
            </a:r>
          </a:p>
          <a:p>
            <a:pPr>
              <a:spcAft>
                <a:spcPts val="2160"/>
              </a:spcAft>
            </a:pPr>
            <a:r>
              <a:rPr sz="1439">
                <a:solidFill>
                  <a:srgbClr val="13A89E"/>
                </a:solidFill>
                <a:latin typeface="Segoe UI"/>
              </a:rPr>
              <a:t>■  </a:t>
            </a:r>
            <a:r>
              <a:rPr sz="2400">
                <a:solidFill>
                  <a:srgbClr val="1B2430"/>
                </a:solidFill>
                <a:latin typeface="Segoe UI"/>
              </a:rPr>
              <a:t>अनधिकृत गतिविधि</a:t>
            </a:r>
          </a:p>
          <a:p>
            <a:pPr>
              <a:spcAft>
                <a:spcPts val="2160"/>
              </a:spcAft>
            </a:pPr>
            <a:r>
              <a:rPr sz="1439">
                <a:solidFill>
                  <a:srgbClr val="13A89E"/>
                </a:solidFill>
                <a:latin typeface="Segoe UI"/>
              </a:rPr>
              <a:t>■  </a:t>
            </a:r>
            <a:r>
              <a:rPr sz="2400">
                <a:solidFill>
                  <a:srgbClr val="1B2430"/>
                </a:solidFill>
                <a:latin typeface="Segoe UI"/>
              </a:rPr>
              <a:t>खोया/चोरी हुआ उपकरण</a:t>
            </a:r>
          </a:p>
          <a:p>
            <a:pPr>
              <a:spcAft>
                <a:spcPts val="2160"/>
              </a:spcAft>
            </a:pPr>
            <a:r>
              <a:rPr sz="1439">
                <a:solidFill>
                  <a:srgbClr val="13A89E"/>
                </a:solidFill>
                <a:latin typeface="Segoe UI"/>
              </a:rPr>
              <a:t>■  </a:t>
            </a:r>
            <a:r>
              <a:rPr sz="2400">
                <a:solidFill>
                  <a:srgbClr val="1B2430"/>
                </a:solidFill>
                <a:latin typeface="Segoe UI"/>
              </a:rPr>
              <a:t>तत्काल आईटी टीम को सूचित करें</a:t>
            </a:r>
          </a:p>
          <a:p>
            <a:pPr>
              <a:spcAft>
                <a:spcPts val="2160"/>
              </a:spcAft>
            </a:pPr>
            <a:r>
              <a:rPr sz="1439">
                <a:solidFill>
                  <a:srgbClr val="13A89E"/>
                </a:solidFill>
                <a:latin typeface="Segoe UI"/>
              </a:rPr>
              <a:t>■  </a:t>
            </a:r>
            <a:r>
              <a:rPr sz="2400">
                <a:solidFill>
                  <a:srgbClr val="1B2430"/>
                </a:solidFill>
                <a:latin typeface="Segoe UI"/>
              </a:rPr>
              <a:t>विवरण प्रदान करें</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तिमाही आईटी सुरक्षा जागरूकता प्रशिक्षण</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400" b="1" i="0">
                <a:solidFill>
                  <a:srgbClr val="FFFFFF"/>
                </a:solidFill>
                <a:latin typeface="Segoe UI"/>
              </a:rPr>
              <a:t>आपकी सुरक्षा, हमारी प्राथमिकता</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FFFFF"/>
                </a:solidFill>
                <a:latin typeface="Segoe UI"/>
              </a:rPr>
              <a:t>सुरक्षित रहें, सतर्क रहें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तिमाही आईटी सुरक्षा जागरूकता प्रशिक्षण</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