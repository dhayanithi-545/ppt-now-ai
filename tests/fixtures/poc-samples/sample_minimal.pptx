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thrilled to welcome you to the team! This presentation will guide you through key aspects of our environment and set you up for success. We've designed this onboarding to be comprehensive yet flexible, allowing you to learn at your own pace. Your contributions are valuable, and we're excited to see you grow with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you to the team's landscape and helps you understand who you'll be working with most closely. It's crucial to grasp how your role fits into the broader team goals and objectives. We'll facilitate personal introductions and provide an organizational chart during your first week to clarify reporting lines and team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standard software development lifecycle, from initial concept to deployment and ongoing maintenance. We emphasize a collaborative and iterative approach, using modern tools to ensure code quality and efficient delivery. You will receive hands-on training with our specific tools and processes to quickly get up to speed.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reviews are a cornerstone of our quality assurance and knowledge sharing within the team. This slide highlights the principles that guide our review process, ensuring we maintain high standards. We encourage open communication and a learning mindset, where every review contributes to both code quality and team growth.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basics of our on-call rotation and responsibilities, which are crucial for maintaining system reliability. While you won't be on-call immediately, understanding the process is important for future preparedness. We provide extensive training and shadowing opportunities before anyone takes on active on-call duties to ensure confidence and competence.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plan provides a structured roadmap for your initial month, helping you navigate your early days with clarity. The focus is on learning, understanding our systems, and gradually integrating into the team's rhythm and culture. We strongly encourage proactive engagement and asking questions throughout this period to maximize your learning and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reinforces our enthusiasm for your arrival and the positive impact you will bring to our team. We are confident you will quickly become a valued member and contribute significantly to our projects. Remember that we are here to support your growth every step of the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222"/>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800" b="1" i="0">
                <a:solidFill>
                  <a:srgbClr val="FFFFFF"/>
                </a:solidFill>
                <a:latin typeface="Segoe UI"/>
              </a:rPr>
              <a:t>Welcome New Software Engineer</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Your Onboarding Journey Starts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222222"/>
                </a:solidFill>
                <a:latin typeface="Segoe UI"/>
              </a:rPr>
              <a:t>Understanding Our Team</a:t>
            </a:r>
          </a:p>
        </p:txBody>
      </p:sp>
      <p:sp>
        <p:nvSpPr>
          <p:cNvPr id="3" name="Rectangle 2"/>
          <p:cNvSpPr/>
          <p:nvPr/>
        </p:nvSpPr>
        <p:spPr>
          <a:xfrm>
            <a:off x="548640" y="1234440"/>
            <a:ext cx="1097280" cy="640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E4572E"/>
                </a:solidFill>
                <a:latin typeface="Segoe UI"/>
              </a:rPr>
              <a:t>■  </a:t>
            </a:r>
            <a:r>
              <a:rPr sz="2400">
                <a:solidFill>
                  <a:srgbClr val="222222"/>
                </a:solidFill>
                <a:latin typeface="Segoe UI"/>
              </a:rPr>
              <a:t>Meet your direct team and immediate stakeholders</a:t>
            </a:r>
          </a:p>
          <a:p>
            <a:pPr>
              <a:spcAft>
                <a:spcPts val="2160"/>
              </a:spcAft>
            </a:pPr>
            <a:r>
              <a:rPr sz="1439">
                <a:solidFill>
                  <a:srgbClr val="E4572E"/>
                </a:solidFill>
                <a:latin typeface="Segoe UI"/>
              </a:rPr>
              <a:t>■  </a:t>
            </a:r>
            <a:r>
              <a:rPr sz="2400">
                <a:solidFill>
                  <a:srgbClr val="222222"/>
                </a:solidFill>
                <a:latin typeface="Segoe UI"/>
              </a:rPr>
              <a:t>Learn about cross-functional collaboration areas</a:t>
            </a:r>
          </a:p>
          <a:p>
            <a:pPr>
              <a:spcAft>
                <a:spcPts val="2160"/>
              </a:spcAft>
            </a:pPr>
            <a:r>
              <a:rPr sz="1439">
                <a:solidFill>
                  <a:srgbClr val="E4572E"/>
                </a:solidFill>
                <a:latin typeface="Segoe UI"/>
              </a:rPr>
              <a:t>■  </a:t>
            </a:r>
            <a:r>
              <a:rPr sz="2400">
                <a:solidFill>
                  <a:srgbClr val="222222"/>
                </a:solidFill>
                <a:latin typeface="Segoe UI"/>
              </a:rPr>
              <a:t>Our team's mission and key objectives</a:t>
            </a:r>
          </a:p>
          <a:p>
            <a:pPr>
              <a:spcAft>
                <a:spcPts val="2160"/>
              </a:spcAft>
            </a:pPr>
            <a:r>
              <a:rPr sz="1439">
                <a:solidFill>
                  <a:srgbClr val="E4572E"/>
                </a:solidFill>
                <a:latin typeface="Segoe UI"/>
              </a:rPr>
              <a:t>■  </a:t>
            </a:r>
            <a:r>
              <a:rPr sz="2400">
                <a:solidFill>
                  <a:srgbClr val="222222"/>
                </a:solidFill>
                <a:latin typeface="Segoe UI"/>
              </a:rPr>
              <a:t>Key roles and responsibilities within the team</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6B6B6B"/>
                </a:solidFill>
                <a:latin typeface="Segoe UI"/>
              </a:rPr>
              <a:t>New Software Engineer Onboarding</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6B6B6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222222"/>
                </a:solidFill>
                <a:latin typeface="Segoe UI"/>
              </a:rPr>
              <a:t>Our Development Process</a:t>
            </a:r>
          </a:p>
        </p:txBody>
      </p:sp>
      <p:sp>
        <p:nvSpPr>
          <p:cNvPr id="3" name="Rectangle 2"/>
          <p:cNvSpPr/>
          <p:nvPr/>
        </p:nvSpPr>
        <p:spPr>
          <a:xfrm>
            <a:off x="548640" y="1234440"/>
            <a:ext cx="1097280" cy="640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45920"/>
            <a:ext cx="5364327" cy="4480560"/>
          </a:xfrm>
          <a:prstGeom prst="roundRect">
            <a:avLst>
              <a:gd name="adj" fmla="val 4000"/>
            </a:avLst>
          </a:prstGeom>
          <a:solidFill>
            <a:srgbClr val="EF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64327" cy="73152"/>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4815687" cy="548640"/>
          </a:xfrm>
          <a:prstGeom prst="rect">
            <a:avLst/>
          </a:prstGeom>
          <a:noFill/>
        </p:spPr>
        <p:txBody>
          <a:bodyPr wrap="square" anchor="t" lIns="45720" rIns="45720">
            <a:spAutoFit/>
          </a:bodyPr>
          <a:lstStyle/>
          <a:p>
            <a:pPr algn="l"/>
            <a:r>
              <a:rPr sz="2200" b="1" i="0">
                <a:solidFill>
                  <a:srgbClr val="222222"/>
                </a:solidFill>
                <a:latin typeface="Segoe UI"/>
              </a:rPr>
              <a:t>Key Phases</a:t>
            </a:r>
          </a:p>
        </p:txBody>
      </p:sp>
      <p:sp>
        <p:nvSpPr>
          <p:cNvPr id="7" name="TextBox 6"/>
          <p:cNvSpPr txBox="1"/>
          <p:nvPr/>
        </p:nvSpPr>
        <p:spPr>
          <a:xfrm>
            <a:off x="822960" y="2606040"/>
            <a:ext cx="4815687" cy="3291840"/>
          </a:xfrm>
          <a:prstGeom prst="rect">
            <a:avLst/>
          </a:prstGeom>
          <a:noFill/>
        </p:spPr>
        <p:txBody>
          <a:bodyPr wrap="square">
            <a:spAutoFit/>
          </a:bodyPr>
          <a:lstStyle/>
          <a:p>
            <a:pPr>
              <a:spcAft>
                <a:spcPts val="1620"/>
              </a:spcAft>
            </a:pPr>
            <a:r>
              <a:rPr sz="1080">
                <a:solidFill>
                  <a:srgbClr val="E4572E"/>
                </a:solidFill>
                <a:latin typeface="Segoe UI"/>
              </a:rPr>
              <a:t>■  </a:t>
            </a:r>
            <a:r>
              <a:rPr sz="1800">
                <a:solidFill>
                  <a:srgbClr val="222222"/>
                </a:solidFill>
                <a:latin typeface="Segoe UI"/>
              </a:rPr>
              <a:t>Planning and design</a:t>
            </a:r>
          </a:p>
          <a:p>
            <a:pPr>
              <a:spcAft>
                <a:spcPts val="1620"/>
              </a:spcAft>
            </a:pPr>
            <a:r>
              <a:rPr sz="1080">
                <a:solidFill>
                  <a:srgbClr val="E4572E"/>
                </a:solidFill>
                <a:latin typeface="Segoe UI"/>
              </a:rPr>
              <a:t>■  </a:t>
            </a:r>
            <a:r>
              <a:rPr sz="1800">
                <a:solidFill>
                  <a:srgbClr val="222222"/>
                </a:solidFill>
                <a:latin typeface="Segoe UI"/>
              </a:rPr>
              <a:t>Coding and unit testing</a:t>
            </a:r>
          </a:p>
          <a:p>
            <a:pPr>
              <a:spcAft>
                <a:spcPts val="1620"/>
              </a:spcAft>
            </a:pPr>
            <a:r>
              <a:rPr sz="1080">
                <a:solidFill>
                  <a:srgbClr val="E4572E"/>
                </a:solidFill>
                <a:latin typeface="Segoe UI"/>
              </a:rPr>
              <a:t>■  </a:t>
            </a:r>
            <a:r>
              <a:rPr sz="1800">
                <a:solidFill>
                  <a:srgbClr val="222222"/>
                </a:solidFill>
                <a:latin typeface="Segoe UI"/>
              </a:rPr>
              <a:t>Integration and testing</a:t>
            </a:r>
          </a:p>
          <a:p>
            <a:pPr>
              <a:spcAft>
                <a:spcPts val="1620"/>
              </a:spcAft>
            </a:pPr>
            <a:r>
              <a:rPr sz="1080">
                <a:solidFill>
                  <a:srgbClr val="E4572E"/>
                </a:solidFill>
                <a:latin typeface="Segoe UI"/>
              </a:rPr>
              <a:t>■  </a:t>
            </a:r>
            <a:r>
              <a:rPr sz="1800">
                <a:solidFill>
                  <a:srgbClr val="222222"/>
                </a:solidFill>
                <a:latin typeface="Segoe UI"/>
              </a:rPr>
              <a:t>Deployment and monitoring</a:t>
            </a:r>
          </a:p>
        </p:txBody>
      </p:sp>
      <p:sp>
        <p:nvSpPr>
          <p:cNvPr id="8" name="Rounded Rectangle 7"/>
          <p:cNvSpPr/>
          <p:nvPr/>
        </p:nvSpPr>
        <p:spPr>
          <a:xfrm>
            <a:off x="6278727" y="1645920"/>
            <a:ext cx="5364327" cy="4480560"/>
          </a:xfrm>
          <a:prstGeom prst="roundRect">
            <a:avLst>
              <a:gd name="adj" fmla="val 4000"/>
            </a:avLst>
          </a:prstGeom>
          <a:solidFill>
            <a:srgbClr val="EF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78727" y="1645920"/>
            <a:ext cx="5364327" cy="73152"/>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920240"/>
            <a:ext cx="4815687" cy="548640"/>
          </a:xfrm>
          <a:prstGeom prst="rect">
            <a:avLst/>
          </a:prstGeom>
          <a:noFill/>
        </p:spPr>
        <p:txBody>
          <a:bodyPr wrap="square" anchor="t" lIns="45720" rIns="45720">
            <a:spAutoFit/>
          </a:bodyPr>
          <a:lstStyle/>
          <a:p>
            <a:pPr algn="l"/>
            <a:r>
              <a:rPr sz="2200" b="1" i="0">
                <a:solidFill>
                  <a:srgbClr val="222222"/>
                </a:solidFill>
                <a:latin typeface="Segoe UI"/>
              </a:rPr>
              <a:t>Tools &amp; Practices</a:t>
            </a:r>
          </a:p>
        </p:txBody>
      </p:sp>
      <p:sp>
        <p:nvSpPr>
          <p:cNvPr id="11" name="TextBox 10"/>
          <p:cNvSpPr txBox="1"/>
          <p:nvPr/>
        </p:nvSpPr>
        <p:spPr>
          <a:xfrm>
            <a:off x="6553047" y="2606040"/>
            <a:ext cx="4815687" cy="3291840"/>
          </a:xfrm>
          <a:prstGeom prst="rect">
            <a:avLst/>
          </a:prstGeom>
          <a:noFill/>
        </p:spPr>
        <p:txBody>
          <a:bodyPr wrap="square">
            <a:spAutoFit/>
          </a:bodyPr>
          <a:lstStyle/>
          <a:p>
            <a:pPr>
              <a:spcAft>
                <a:spcPts val="1620"/>
              </a:spcAft>
            </a:pPr>
            <a:r>
              <a:rPr sz="1080">
                <a:solidFill>
                  <a:srgbClr val="E4572E"/>
                </a:solidFill>
                <a:latin typeface="Segoe UI"/>
              </a:rPr>
              <a:t>■  </a:t>
            </a:r>
            <a:r>
              <a:rPr sz="1800">
                <a:solidFill>
                  <a:srgbClr val="222222"/>
                </a:solidFill>
                <a:latin typeface="Segoe UI"/>
              </a:rPr>
              <a:t>Version control (Git, GitHub)</a:t>
            </a:r>
          </a:p>
          <a:p>
            <a:pPr>
              <a:spcAft>
                <a:spcPts val="1620"/>
              </a:spcAft>
            </a:pPr>
            <a:r>
              <a:rPr sz="1080">
                <a:solidFill>
                  <a:srgbClr val="E4572E"/>
                </a:solidFill>
                <a:latin typeface="Segoe UI"/>
              </a:rPr>
              <a:t>■  </a:t>
            </a:r>
            <a:r>
              <a:rPr sz="1800">
                <a:solidFill>
                  <a:srgbClr val="222222"/>
                </a:solidFill>
                <a:latin typeface="Segoe UI"/>
              </a:rPr>
              <a:t>CI/CD pipelines</a:t>
            </a:r>
          </a:p>
          <a:p>
            <a:pPr>
              <a:spcAft>
                <a:spcPts val="1620"/>
              </a:spcAft>
            </a:pPr>
            <a:r>
              <a:rPr sz="1080">
                <a:solidFill>
                  <a:srgbClr val="E4572E"/>
                </a:solidFill>
                <a:latin typeface="Segoe UI"/>
              </a:rPr>
              <a:t>■  </a:t>
            </a:r>
            <a:r>
              <a:rPr sz="1800">
                <a:solidFill>
                  <a:srgbClr val="222222"/>
                </a:solidFill>
                <a:latin typeface="Segoe UI"/>
              </a:rPr>
              <a:t>Agile methodologies (Scrum/Kanban)</a:t>
            </a:r>
          </a:p>
          <a:p>
            <a:pPr>
              <a:spcAft>
                <a:spcPts val="1620"/>
              </a:spcAft>
            </a:pPr>
            <a:r>
              <a:rPr sz="1080">
                <a:solidFill>
                  <a:srgbClr val="E4572E"/>
                </a:solidFill>
                <a:latin typeface="Segoe UI"/>
              </a:rPr>
              <a:t>■  </a:t>
            </a:r>
            <a:r>
              <a:rPr sz="1800">
                <a:solidFill>
                  <a:srgbClr val="222222"/>
                </a:solidFill>
                <a:latin typeface="Segoe UI"/>
              </a:rPr>
              <a:t>Documentation standards</a:t>
            </a:r>
          </a:p>
        </p:txBody>
      </p:sp>
      <p:sp>
        <p:nvSpPr>
          <p:cNvPr id="12" name="TextBox 11"/>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6B6B6B"/>
                </a:solidFill>
                <a:latin typeface="Segoe UI"/>
              </a:rPr>
              <a:t>New Software Engineer Onboarding</a:t>
            </a:r>
          </a:p>
        </p:txBody>
      </p:sp>
      <p:sp>
        <p:nvSpPr>
          <p:cNvPr id="13" name="TextBox 12"/>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6B6B6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222222"/>
                </a:solidFill>
                <a:latin typeface="Segoe UI"/>
              </a:rPr>
              <a:t>Effective Code Reviews</a:t>
            </a:r>
          </a:p>
        </p:txBody>
      </p:sp>
      <p:sp>
        <p:nvSpPr>
          <p:cNvPr id="3" name="Rectangle 2"/>
          <p:cNvSpPr/>
          <p:nvPr/>
        </p:nvSpPr>
        <p:spPr>
          <a:xfrm>
            <a:off x="548640" y="1234440"/>
            <a:ext cx="1097280" cy="640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E4572E"/>
                </a:solidFill>
                <a:latin typeface="Segoe UI"/>
              </a:rPr>
              <a:t>■  </a:t>
            </a:r>
            <a:r>
              <a:rPr sz="2400">
                <a:solidFill>
                  <a:srgbClr val="222222"/>
                </a:solidFill>
                <a:latin typeface="Segoe UI"/>
              </a:rPr>
              <a:t>Focus on clarity, correctness, and maintainability</a:t>
            </a:r>
          </a:p>
          <a:p>
            <a:pPr>
              <a:spcAft>
                <a:spcPts val="2160"/>
              </a:spcAft>
            </a:pPr>
            <a:r>
              <a:rPr sz="1439">
                <a:solidFill>
                  <a:srgbClr val="E4572E"/>
                </a:solidFill>
                <a:latin typeface="Segoe UI"/>
              </a:rPr>
              <a:t>■  </a:t>
            </a:r>
            <a:r>
              <a:rPr sz="2400">
                <a:solidFill>
                  <a:srgbClr val="222222"/>
                </a:solidFill>
                <a:latin typeface="Segoe UI"/>
              </a:rPr>
              <a:t>Provide constructive and respectful feedback</a:t>
            </a:r>
          </a:p>
          <a:p>
            <a:pPr>
              <a:spcAft>
                <a:spcPts val="2160"/>
              </a:spcAft>
            </a:pPr>
            <a:r>
              <a:rPr sz="1439">
                <a:solidFill>
                  <a:srgbClr val="E4572E"/>
                </a:solidFill>
                <a:latin typeface="Segoe UI"/>
              </a:rPr>
              <a:t>■  </a:t>
            </a:r>
            <a:r>
              <a:rPr sz="2400">
                <a:solidFill>
                  <a:srgbClr val="222222"/>
                </a:solidFill>
                <a:latin typeface="Segoe UI"/>
              </a:rPr>
              <a:t>Understand the 'why' behind changes</a:t>
            </a:r>
          </a:p>
          <a:p>
            <a:pPr>
              <a:spcAft>
                <a:spcPts val="2160"/>
              </a:spcAft>
            </a:pPr>
            <a:r>
              <a:rPr sz="1439">
                <a:solidFill>
                  <a:srgbClr val="E4572E"/>
                </a:solidFill>
                <a:latin typeface="Segoe UI"/>
              </a:rPr>
              <a:t>■  </a:t>
            </a:r>
            <a:r>
              <a:rPr sz="2400">
                <a:solidFill>
                  <a:srgbClr val="222222"/>
                </a:solidFill>
                <a:latin typeface="Segoe UI"/>
              </a:rPr>
              <a:t>Respond to comments in a timely manner</a:t>
            </a:r>
          </a:p>
          <a:p>
            <a:pPr>
              <a:spcAft>
                <a:spcPts val="2160"/>
              </a:spcAft>
            </a:pPr>
            <a:r>
              <a:rPr sz="1439">
                <a:solidFill>
                  <a:srgbClr val="E4572E"/>
                </a:solidFill>
                <a:latin typeface="Segoe UI"/>
              </a:rPr>
              <a:t>■  </a:t>
            </a:r>
            <a:r>
              <a:rPr sz="2400">
                <a:solidFill>
                  <a:srgbClr val="222222"/>
                </a:solidFill>
                <a:latin typeface="Segoe UI"/>
              </a:rPr>
              <a:t>Approve when ready, iterate when needed</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6B6B6B"/>
                </a:solidFill>
                <a:latin typeface="Segoe UI"/>
              </a:rPr>
              <a:t>New Software Engineer Onboarding</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6B6B6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222222"/>
                </a:solidFill>
                <a:latin typeface="Segoe UI"/>
              </a:rPr>
              <a:t>On-Call Expectations</a:t>
            </a:r>
          </a:p>
        </p:txBody>
      </p:sp>
      <p:sp>
        <p:nvSpPr>
          <p:cNvPr id="3" name="Rectangle 2"/>
          <p:cNvSpPr/>
          <p:nvPr/>
        </p:nvSpPr>
        <p:spPr>
          <a:xfrm>
            <a:off x="548640" y="1234440"/>
            <a:ext cx="1097280" cy="640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691640"/>
          <a:ext cx="11094415" cy="2011680"/>
        </p:xfrm>
        <a:graphic>
          <a:graphicData uri="http://schemas.openxmlformats.org/drawingml/2006/table">
            <a:tbl>
              <a:tblPr firstRow="1" bandRow="1">
                <a:tableStyleId>{5C22544A-7EE6-4342-B048-85BDC9FD1C3A}</a:tableStyleId>
              </a:tblPr>
              <a:tblGrid>
                <a:gridCol w="3698138"/>
                <a:gridCol w="3698138"/>
                <a:gridCol w="3698139"/>
              </a:tblGrid>
              <a:tr h="502920">
                <a:tc>
                  <a:txBody>
                    <a:bodyPr/>
                    <a:lstStyle/>
                    <a:p>
                      <a:r>
                        <a:rPr sz="1600" b="1">
                          <a:solidFill>
                            <a:srgbClr val="FFFFFF"/>
                          </a:solidFill>
                          <a:latin typeface="Segoe UI"/>
                        </a:rPr>
                        <a:t>Role</a:t>
                      </a:r>
                    </a:p>
                  </a:txBody>
                  <a:tcPr anchor="ctr">
                    <a:solidFill>
                      <a:srgbClr val="222222"/>
                    </a:solidFill>
                  </a:tcPr>
                </a:tc>
                <a:tc>
                  <a:txBody>
                    <a:bodyPr/>
                    <a:lstStyle/>
                    <a:p>
                      <a:r>
                        <a:rPr sz="1600" b="1">
                          <a:solidFill>
                            <a:srgbClr val="FFFFFF"/>
                          </a:solidFill>
                          <a:latin typeface="Segoe UI"/>
                        </a:rPr>
                        <a:t>Tools</a:t>
                      </a:r>
                    </a:p>
                  </a:txBody>
                  <a:tcPr anchor="ctr">
                    <a:solidFill>
                      <a:srgbClr val="222222"/>
                    </a:solidFill>
                  </a:tcPr>
                </a:tc>
                <a:tc>
                  <a:txBody>
                    <a:bodyPr/>
                    <a:lstStyle/>
                    <a:p>
                      <a:r>
                        <a:rPr sz="1600" b="1">
                          <a:solidFill>
                            <a:srgbClr val="FFFFFF"/>
                          </a:solidFill>
                          <a:latin typeface="Segoe UI"/>
                        </a:rPr>
                        <a:t>Expectations</a:t>
                      </a:r>
                    </a:p>
                  </a:txBody>
                  <a:tcPr anchor="ctr">
                    <a:solidFill>
                      <a:srgbClr val="222222"/>
                    </a:solidFill>
                  </a:tcPr>
                </a:tc>
              </a:tr>
              <a:tr h="502920">
                <a:tc>
                  <a:txBody>
                    <a:bodyPr/>
                    <a:lstStyle/>
                    <a:p>
                      <a:r>
                        <a:rPr sz="1600" b="0">
                          <a:solidFill>
                            <a:srgbClr val="222222"/>
                          </a:solidFill>
                          <a:latin typeface="Segoe UI"/>
                        </a:rPr>
                        <a:t>Incident Response</a:t>
                      </a:r>
                    </a:p>
                  </a:txBody>
                  <a:tcPr anchor="ctr">
                    <a:solidFill>
                      <a:srgbClr val="FAFAF7"/>
                    </a:solidFill>
                  </a:tcPr>
                </a:tc>
                <a:tc>
                  <a:txBody>
                    <a:bodyPr/>
                    <a:lstStyle/>
                    <a:p>
                      <a:r>
                        <a:rPr sz="1600" b="0">
                          <a:solidFill>
                            <a:srgbClr val="222222"/>
                          </a:solidFill>
                          <a:latin typeface="Segoe UI"/>
                        </a:rPr>
                        <a:t>PagerDuty</a:t>
                      </a:r>
                    </a:p>
                  </a:txBody>
                  <a:tcPr anchor="ctr">
                    <a:solidFill>
                      <a:srgbClr val="FAFAF7"/>
                    </a:solidFill>
                  </a:tcPr>
                </a:tc>
                <a:tc>
                  <a:txBody>
                    <a:bodyPr/>
                    <a:lstStyle/>
                    <a:p>
                      <a:r>
                        <a:rPr sz="1600" b="0">
                          <a:solidFill>
                            <a:srgbClr val="222222"/>
                          </a:solidFill>
                          <a:latin typeface="Segoe UI"/>
                        </a:rPr>
                        <a:t>Timely acknowledgment</a:t>
                      </a:r>
                    </a:p>
                  </a:txBody>
                  <a:tcPr anchor="ctr">
                    <a:solidFill>
                      <a:srgbClr val="FAFAF7"/>
                    </a:solidFill>
                  </a:tcPr>
                </a:tc>
              </a:tr>
              <a:tr h="502920">
                <a:tc>
                  <a:txBody>
                    <a:bodyPr/>
                    <a:lstStyle/>
                    <a:p>
                      <a:r>
                        <a:rPr sz="1600" b="0">
                          <a:solidFill>
                            <a:srgbClr val="222222"/>
                          </a:solidFill>
                          <a:latin typeface="Segoe UI"/>
                        </a:rPr>
                        <a:t>Troubleshooting</a:t>
                      </a:r>
                    </a:p>
                  </a:txBody>
                  <a:tcPr anchor="ctr">
                    <a:solidFill>
                      <a:srgbClr val="EFEFEA"/>
                    </a:solidFill>
                  </a:tcPr>
                </a:tc>
                <a:tc>
                  <a:txBody>
                    <a:bodyPr/>
                    <a:lstStyle/>
                    <a:p>
                      <a:r>
                        <a:rPr sz="1600" b="0">
                          <a:solidFill>
                            <a:srgbClr val="222222"/>
                          </a:solidFill>
                          <a:latin typeface="Segoe UI"/>
                        </a:rPr>
                        <a:t>Logging/Monitoring</a:t>
                      </a:r>
                    </a:p>
                  </a:txBody>
                  <a:tcPr anchor="ctr">
                    <a:solidFill>
                      <a:srgbClr val="EFEFEA"/>
                    </a:solidFill>
                  </a:tcPr>
                </a:tc>
                <a:tc>
                  <a:txBody>
                    <a:bodyPr/>
                    <a:lstStyle/>
                    <a:p>
                      <a:r>
                        <a:rPr sz="1600" b="0">
                          <a:solidFill>
                            <a:srgbClr val="222222"/>
                          </a:solidFill>
                          <a:latin typeface="Segoe UI"/>
                        </a:rPr>
                        <a:t>Clear communication</a:t>
                      </a:r>
                    </a:p>
                  </a:txBody>
                  <a:tcPr anchor="ctr">
                    <a:solidFill>
                      <a:srgbClr val="EFEFEA"/>
                    </a:solidFill>
                  </a:tcPr>
                </a:tc>
              </a:tr>
              <a:tr h="502920">
                <a:tc>
                  <a:txBody>
                    <a:bodyPr/>
                    <a:lstStyle/>
                    <a:p>
                      <a:r>
                        <a:rPr sz="1600" b="0">
                          <a:solidFill>
                            <a:srgbClr val="222222"/>
                          </a:solidFill>
                          <a:latin typeface="Segoe UI"/>
                        </a:rPr>
                        <a:t>Post-Mortem</a:t>
                      </a:r>
                    </a:p>
                  </a:txBody>
                  <a:tcPr anchor="ctr">
                    <a:solidFill>
                      <a:srgbClr val="FAFAF7"/>
                    </a:solidFill>
                  </a:tcPr>
                </a:tc>
                <a:tc>
                  <a:txBody>
                    <a:bodyPr/>
                    <a:lstStyle/>
                    <a:p>
                      <a:r>
                        <a:rPr sz="1600" b="0">
                          <a:solidFill>
                            <a:srgbClr val="222222"/>
                          </a:solidFill>
                          <a:latin typeface="Segoe UI"/>
                        </a:rPr>
                        <a:t>Confluence</a:t>
                      </a:r>
                    </a:p>
                  </a:txBody>
                  <a:tcPr anchor="ctr">
                    <a:solidFill>
                      <a:srgbClr val="FAFAF7"/>
                    </a:solidFill>
                  </a:tcPr>
                </a:tc>
                <a:tc>
                  <a:txBody>
                    <a:bodyPr/>
                    <a:lstStyle/>
                    <a:p>
                      <a:r>
                        <a:rPr sz="1600" b="0">
                          <a:solidFill>
                            <a:srgbClr val="222222"/>
                          </a:solidFill>
                          <a:latin typeface="Segoe UI"/>
                        </a:rPr>
                        <a:t>Root cause analysis</a:t>
                      </a:r>
                    </a:p>
                  </a:txBody>
                  <a:tcPr anchor="ctr">
                    <a:solidFill>
                      <a:srgbClr val="FAFAF7"/>
                    </a:solidFill>
                  </a:tcPr>
                </a:tc>
              </a:tr>
            </a:tbl>
          </a:graphicData>
        </a:graphic>
      </p:graphicFrame>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6B6B6B"/>
                </a:solidFill>
                <a:latin typeface="Segoe UI"/>
              </a:rPr>
              <a:t>New Software Engineer Onboarding</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6B6B6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nchor="ctr" lIns="45720" rIns="45720">
            <a:spAutoFit/>
          </a:bodyPr>
          <a:lstStyle/>
          <a:p>
            <a:pPr algn="l"/>
            <a:r>
              <a:rPr sz="3200" b="1" i="0">
                <a:solidFill>
                  <a:srgbClr val="222222"/>
                </a:solidFill>
                <a:latin typeface="Segoe UI"/>
              </a:rPr>
              <a:t>Your First 30 Days</a:t>
            </a:r>
          </a:p>
        </p:txBody>
      </p:sp>
      <p:sp>
        <p:nvSpPr>
          <p:cNvPr id="3" name="Rectangle 2"/>
          <p:cNvSpPr/>
          <p:nvPr/>
        </p:nvSpPr>
        <p:spPr>
          <a:xfrm>
            <a:off x="548640" y="1234440"/>
            <a:ext cx="1097280" cy="64008"/>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4415" cy="4526280"/>
          </a:xfrm>
          <a:prstGeom prst="rect">
            <a:avLst/>
          </a:prstGeom>
          <a:noFill/>
        </p:spPr>
        <p:txBody>
          <a:bodyPr wrap="square">
            <a:spAutoFit/>
          </a:bodyPr>
          <a:lstStyle/>
          <a:p>
            <a:pPr>
              <a:spcAft>
                <a:spcPts val="2160"/>
              </a:spcAft>
            </a:pPr>
            <a:r>
              <a:rPr sz="1439">
                <a:solidFill>
                  <a:srgbClr val="E4572E"/>
                </a:solidFill>
                <a:latin typeface="Segoe UI"/>
              </a:rPr>
              <a:t>■  </a:t>
            </a:r>
            <a:r>
              <a:rPr sz="2400">
                <a:solidFill>
                  <a:srgbClr val="222222"/>
                </a:solidFill>
                <a:latin typeface="Segoe UI"/>
              </a:rPr>
              <a:t>Week 1: Setup, introductions, and core system overview</a:t>
            </a:r>
          </a:p>
          <a:p>
            <a:pPr>
              <a:spcAft>
                <a:spcPts val="2160"/>
              </a:spcAft>
            </a:pPr>
            <a:r>
              <a:rPr sz="1439">
                <a:solidFill>
                  <a:srgbClr val="E4572E"/>
                </a:solidFill>
                <a:latin typeface="Segoe UI"/>
              </a:rPr>
              <a:t>■  </a:t>
            </a:r>
            <a:r>
              <a:rPr sz="2400">
                <a:solidFill>
                  <a:srgbClr val="222222"/>
                </a:solidFill>
                <a:latin typeface="Segoe UI"/>
              </a:rPr>
              <a:t>Week 2: Shadowing, documentation review, first small task</a:t>
            </a:r>
          </a:p>
          <a:p>
            <a:pPr>
              <a:spcAft>
                <a:spcPts val="2160"/>
              </a:spcAft>
            </a:pPr>
            <a:r>
              <a:rPr sz="1439">
                <a:solidFill>
                  <a:srgbClr val="E4572E"/>
                </a:solidFill>
                <a:latin typeface="Segoe UI"/>
              </a:rPr>
              <a:t>■  </a:t>
            </a:r>
            <a:r>
              <a:rPr sz="2400">
                <a:solidFill>
                  <a:srgbClr val="222222"/>
                </a:solidFill>
                <a:latin typeface="Segoe UI"/>
              </a:rPr>
              <a:t>Week 3: Independent contribution, deeper dives into codebase</a:t>
            </a:r>
          </a:p>
          <a:p>
            <a:pPr>
              <a:spcAft>
                <a:spcPts val="2160"/>
              </a:spcAft>
            </a:pPr>
            <a:r>
              <a:rPr sz="1439">
                <a:solidFill>
                  <a:srgbClr val="E4572E"/>
                </a:solidFill>
                <a:latin typeface="Segoe UI"/>
              </a:rPr>
              <a:t>■  </a:t>
            </a:r>
            <a:r>
              <a:rPr sz="2400">
                <a:solidFill>
                  <a:srgbClr val="222222"/>
                </a:solidFill>
                <a:latin typeface="Segoe UI"/>
              </a:rPr>
              <a:t>Week 4: Team integration, feedback, and goal setting</a:t>
            </a:r>
          </a:p>
        </p:txBody>
      </p:sp>
      <p:sp>
        <p:nvSpPr>
          <p:cNvPr id="5" name="TextBox 4"/>
          <p:cNvSpPr txBox="1"/>
          <p:nvPr/>
        </p:nvSpPr>
        <p:spPr>
          <a:xfrm>
            <a:off x="548640" y="6400800"/>
            <a:ext cx="7315200" cy="274320"/>
          </a:xfrm>
          <a:prstGeom prst="rect">
            <a:avLst/>
          </a:prstGeom>
          <a:noFill/>
        </p:spPr>
        <p:txBody>
          <a:bodyPr wrap="square" anchor="t" lIns="45720" rIns="45720">
            <a:spAutoFit/>
          </a:bodyPr>
          <a:lstStyle/>
          <a:p>
            <a:pPr algn="l"/>
            <a:r>
              <a:rPr sz="1000" b="0" i="0">
                <a:solidFill>
                  <a:srgbClr val="6B6B6B"/>
                </a:solidFill>
                <a:latin typeface="Segoe UI"/>
              </a:rPr>
              <a:t>New Software Engineer Onboarding</a:t>
            </a:r>
          </a:p>
        </p:txBody>
      </p:sp>
      <p:sp>
        <p:nvSpPr>
          <p:cNvPr id="6" name="TextBox 5"/>
          <p:cNvSpPr txBox="1"/>
          <p:nvPr/>
        </p:nvSpPr>
        <p:spPr>
          <a:xfrm>
            <a:off x="10728655" y="6400800"/>
            <a:ext cx="914400" cy="274320"/>
          </a:xfrm>
          <a:prstGeom prst="rect">
            <a:avLst/>
          </a:prstGeom>
          <a:noFill/>
        </p:spPr>
        <p:txBody>
          <a:bodyPr wrap="square" anchor="t" lIns="45720" rIns="45720">
            <a:spAutoFit/>
          </a:bodyPr>
          <a:lstStyle/>
          <a:p>
            <a:pPr algn="r"/>
            <a:r>
              <a:rPr sz="1000" b="0" i="0">
                <a:solidFill>
                  <a:srgbClr val="6B6B6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2222"/>
        </a:solidFill>
        <a:effectLst/>
      </p:bgPr>
    </p:bg>
    <p:spTree>
      <p:nvGrpSpPr>
        <p:cNvPr id="1" name=""/>
        <p:cNvGrpSpPr/>
        <p:nvPr/>
      </p:nvGrpSpPr>
      <p:grpSpPr/>
      <p:sp>
        <p:nvSpPr>
          <p:cNvPr id="2" name="Rectangle 1"/>
          <p:cNvSpPr/>
          <p:nvPr/>
        </p:nvSpPr>
        <p:spPr>
          <a:xfrm>
            <a:off x="0" y="6629400"/>
            <a:ext cx="12191695" cy="2286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09728" cy="173736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728655" cy="1371600"/>
          </a:xfrm>
          <a:prstGeom prst="rect">
            <a:avLst/>
          </a:prstGeom>
          <a:noFill/>
        </p:spPr>
        <p:txBody>
          <a:bodyPr wrap="square" anchor="b" lIns="45720" rIns="45720">
            <a:spAutoFit/>
          </a:bodyPr>
          <a:lstStyle/>
          <a:p>
            <a:pPr algn="l"/>
            <a:r>
              <a:rPr sz="4400" b="1" i="0">
                <a:solidFill>
                  <a:srgbClr val="FFFFFF"/>
                </a:solidFill>
                <a:latin typeface="Segoe UI"/>
              </a:rPr>
              <a:t>Ready to Innovate</a:t>
            </a:r>
          </a:p>
        </p:txBody>
      </p:sp>
      <p:sp>
        <p:nvSpPr>
          <p:cNvPr id="5" name="TextBox 4"/>
          <p:cNvSpPr txBox="1"/>
          <p:nvPr/>
        </p:nvSpPr>
        <p:spPr>
          <a:xfrm>
            <a:off x="914400" y="3657600"/>
            <a:ext cx="10728655" cy="914400"/>
          </a:xfrm>
          <a:prstGeom prst="rect">
            <a:avLst/>
          </a:prstGeom>
          <a:noFill/>
        </p:spPr>
        <p:txBody>
          <a:bodyPr wrap="square" anchor="t" lIns="45720" rIns="45720">
            <a:spAutoFit/>
          </a:bodyPr>
          <a:lstStyle/>
          <a:p>
            <a:pPr algn="l"/>
            <a:r>
              <a:rPr sz="2200" b="0" i="0">
                <a:solidFill>
                  <a:srgbClr val="FFFFFF"/>
                </a:solidFill>
                <a:latin typeface="Segoe UI"/>
              </a:rPr>
              <a:t>We're excited to have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Software Engineer Onboarding</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