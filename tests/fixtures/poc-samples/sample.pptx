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 Volume</c:v>
                </c:pt>
              </c:strCache>
            </c:strRef>
          </c:tx>
          <c:spPr>
            <a:solidFill>
              <a:srgbClr val="0B2545"/>
            </a:solidFill>
          </c:spPr>
          <c:cat>
            <c:strRef>
              <c:f>Sheet1!$A$2:$A$6</c:f>
              <c:strCache>
                <c:ptCount val="5"/>
                <c:pt idx="0">
                  <c:v>2022</c:v>
                </c:pt>
                <c:pt idx="1">
                  <c:v>2023</c:v>
                </c:pt>
                <c:pt idx="2">
                  <c:v>2024</c:v>
                </c:pt>
                <c:pt idx="3">
                  <c:v>2025</c:v>
                </c:pt>
                <c:pt idx="4">
                  <c:v>2026</c:v>
                </c:pt>
              </c:strCache>
            </c:strRef>
          </c:cat>
          <c:val>
            <c:numRef>
              <c:f>Sheet1!$B$2:$B$6</c:f>
              <c:numCache>
                <c:formatCode>General</c:formatCode>
                <c:ptCount val="5"/>
                <c:pt idx="0">
                  <c:v>700.0</c:v>
                </c:pt>
                <c:pt idx="1">
                  <c:v>1200.0</c:v>
                </c:pt>
                <c:pt idx="2">
                  <c:v>2500.0</c:v>
                </c:pt>
                <c:pt idx="3">
                  <c:v>4500.0</c:v>
                </c:pt>
                <c:pt idx="4">
                  <c:v>8000.0</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F2F5F9"/>
              </a:solidFill>
            </a:ln>
          </c:spPr>
        </c:majorGridlines>
        <c:majorTickMark val="out"/>
        <c:minorTickMark val="none"/>
        <c:tickLblPos val="nextTo"/>
        <c:spPr>
          <a:ln>
            <a:noFill/>
          </a:ln>
        </c:spPr>
        <c:crossAx val="-2068027336"/>
        <c:crosses val="autoZero"/>
      </c:valAx>
    </c:plotArea>
    <c:dispBlanksAs val="gap"/>
  </c:chart>
  <c:txPr>
    <a:bodyPr/>
    <a:lstStyle/>
    <a:p>
      <a:pPr>
        <a:defRPr sz="1200">
          <a:solidFill>
            <a:srgbClr val="5B6675"/>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 are here today to present a compelling investment opportunity in India's rapidly expanding electric two-wheeler market. This sector is not just growing; it's undergoing a fundamental transformation, driven by strong market forces and supportive government policies. We believe this represents a significant chance for substantial returns.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diving into our specific strategy, let's set the stage with a comprehensive overview of the Indian electric two-wheeler market. We'll explore the current size, projected growth, and the underlying factors contributing to this unprecedented shift. This section will highlight the immense potential for new entrants.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the market is experiencing exponential growth, with sales volumes projected to skyrocket over the next few years. The numbers shown here are illustrative, demonstrating the strong upward trend. This trajectory indicates a massive shift from traditional internal combustion engine vehicles to electric alternatives, creating a fertile ground for innovation and investment.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powerful factors are converging to fuel this growth. Escalating fuel costs make electric vehicles an economically attractive option for consumers, while growing environmental consciousness drives demand for sustainable transport. Government support, technological advancements, and the unique dynamics of India's urban centers further accelerate this transition. These drivers create a robust and sustainable market for electric two-wheelers.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dynamic, with both established players and agile startups vying for market share. Understanding this competitive environment is crucial for positioning a new venture effectively. We will also address the critical aspect of charging infrastructure, which, despite challenges, presents significant opportunities for innovation and strategic partnerships.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provides an illustrative snapshot of some of the key players currently dominating the Indian EV two-wheeler space. Each competitor has distinct strengths, from aggressive pricing strategies to premium technology and brand loyalty. Identifying their weaknesses and market gaps is crucial for a new entrant to carve out a differentiated position. Our strategy will leverage these insights to build a unique value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market is booming, charging infrastructure remains a significant challenge that needs to be addressed. The current public charging network is nascent, and a lack of standardization can confuse consumers. Addressing range anxiety and ensuring reliable, accessible charging solutions are paramount for widespread adoption. Our go-to-market plan incorporates strategies to mitigate these infrastructure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Indian government's FAME II (Faster Adoption and Manufacturing of Electric Vehicles) scheme is a powerful catalyst for market growth. It aims to accelerate EV adoption and build a sustainable ecosystem. The scheme offers substantial financial incentives, directly benefiting consumers and manufacturers alike. This policy support significantly de-risks investment in the sector and creates a favorable operating environment for new players.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analyzed the market, competitors, and regulatory environment, we are now ready to unveil our strategic go-to-market plan. This section will detail how our new EV startup plans to enter this competitive landscape, differentiate itself, and capture significant market share. We will outline our product, distribution, and customer engagement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Indian electric two-wheeler market is not just a trend; it's the future of urban mobility. With robust market drivers, strong government support, and identified opportunities within the competitive landscape, the timing is perfect for a disruptive new entrant. We invite you to partner with us in this exciting journey, to capitalize on this immense potential and contribute to a cleaner, more sustainable India.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800" b="1" i="0">
                <a:solidFill>
                  <a:srgbClr val="FFFFFF"/>
                </a:solidFill>
                <a:latin typeface="Segoe UI"/>
              </a:rPr>
              <a:t>India's Electric Two-Wheeler Revolution</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A Trillion-Dollar Opportunity in Sustainable Mobility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37160" cy="68580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0" y="2286000"/>
            <a:ext cx="6949440" cy="1463040"/>
          </a:xfrm>
          <a:prstGeom prst="rect">
            <a:avLst/>
          </a:prstGeom>
          <a:noFill/>
        </p:spPr>
        <p:txBody>
          <a:bodyPr wrap="square" anchor="b" lIns="45720" rIns="45720">
            <a:spAutoFit/>
          </a:bodyPr>
          <a:lstStyle/>
          <a:p>
            <a:pPr algn="l"/>
            <a:r>
              <a:rPr sz="4000" b="1" i="0">
                <a:solidFill>
                  <a:srgbClr val="1B2430"/>
                </a:solidFill>
                <a:latin typeface="Segoe UI"/>
              </a:rPr>
              <a:t>Market Overview and Opportunity</a:t>
            </a:r>
          </a:p>
        </p:txBody>
      </p:sp>
      <p:sp>
        <p:nvSpPr>
          <p:cNvPr id="5" name="TextBox 4"/>
          <p:cNvSpPr txBox="1"/>
          <p:nvPr/>
        </p:nvSpPr>
        <p:spPr>
          <a:xfrm>
            <a:off x="4572000" y="3840480"/>
            <a:ext cx="6949440" cy="1097280"/>
          </a:xfrm>
          <a:prstGeom prst="rect">
            <a:avLst/>
          </a:prstGeom>
          <a:noFill/>
        </p:spPr>
        <p:txBody>
          <a:bodyPr wrap="square" anchor="t" lIns="45720" rIns="45720">
            <a:spAutoFit/>
          </a:bodyPr>
          <a:lstStyle/>
          <a:p>
            <a:pPr algn="l"/>
            <a:r>
              <a:rPr sz="2000" b="0" i="0">
                <a:solidFill>
                  <a:srgbClr val="5B6675"/>
                </a:solidFill>
                <a:latin typeface="Segoe UI"/>
              </a:rPr>
              <a:t>Understanding the Landscape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Rapid Market Growth Projected</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645920"/>
          <a:ext cx="11094415"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India's Electric Two-Wheeler Revolution</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Key Drivers of Growth</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1320"/>
              </a:spcAft>
            </a:pPr>
            <a:r>
              <a:rPr sz="1320">
                <a:solidFill>
                  <a:srgbClr val="13A89E"/>
                </a:solidFill>
                <a:latin typeface="Segoe UI"/>
              </a:rPr>
              <a:t>■  </a:t>
            </a:r>
            <a:r>
              <a:rPr sz="2200">
                <a:solidFill>
                  <a:srgbClr val="1B2430"/>
                </a:solidFill>
                <a:latin typeface="Segoe UI"/>
              </a:rPr>
              <a:t>Rising fuel prices and cost savings</a:t>
            </a:r>
          </a:p>
          <a:p>
            <a:pPr>
              <a:spcAft>
                <a:spcPts val="1320"/>
              </a:spcAft>
            </a:pPr>
            <a:r>
              <a:rPr sz="1320">
                <a:solidFill>
                  <a:srgbClr val="13A89E"/>
                </a:solidFill>
                <a:latin typeface="Segoe UI"/>
              </a:rPr>
              <a:t>■  </a:t>
            </a:r>
            <a:r>
              <a:rPr sz="2200">
                <a:solidFill>
                  <a:srgbClr val="1B2430"/>
                </a:solidFill>
                <a:latin typeface="Segoe UI"/>
              </a:rPr>
              <a:t>Increasing environmental awareness</a:t>
            </a:r>
          </a:p>
          <a:p>
            <a:pPr>
              <a:spcAft>
                <a:spcPts val="1320"/>
              </a:spcAft>
            </a:pPr>
            <a:r>
              <a:rPr sz="1320">
                <a:solidFill>
                  <a:srgbClr val="13A89E"/>
                </a:solidFill>
                <a:latin typeface="Segoe UI"/>
              </a:rPr>
              <a:t>■  </a:t>
            </a:r>
            <a:r>
              <a:rPr sz="2200">
                <a:solidFill>
                  <a:srgbClr val="1B2430"/>
                </a:solidFill>
                <a:latin typeface="Segoe UI"/>
              </a:rPr>
              <a:t>Strong government incentives and policies</a:t>
            </a:r>
          </a:p>
          <a:p>
            <a:pPr>
              <a:spcAft>
                <a:spcPts val="1320"/>
              </a:spcAft>
            </a:pPr>
            <a:r>
              <a:rPr sz="1320">
                <a:solidFill>
                  <a:srgbClr val="13A89E"/>
                </a:solidFill>
                <a:latin typeface="Segoe UI"/>
              </a:rPr>
              <a:t>■  </a:t>
            </a:r>
            <a:r>
              <a:rPr sz="2200">
                <a:solidFill>
                  <a:srgbClr val="1B2430"/>
                </a:solidFill>
                <a:latin typeface="Segoe UI"/>
              </a:rPr>
              <a:t>Advancing battery technology and performance</a:t>
            </a:r>
          </a:p>
          <a:p>
            <a:pPr>
              <a:spcAft>
                <a:spcPts val="1320"/>
              </a:spcAft>
            </a:pPr>
            <a:r>
              <a:rPr sz="1320">
                <a:solidFill>
                  <a:srgbClr val="13A89E"/>
                </a:solidFill>
                <a:latin typeface="Segoe UI"/>
              </a:rPr>
              <a:t>■  </a:t>
            </a:r>
            <a:r>
              <a:rPr sz="2200">
                <a:solidFill>
                  <a:srgbClr val="1B2430"/>
                </a:solidFill>
                <a:latin typeface="Segoe UI"/>
              </a:rPr>
              <a:t>Rapid urbanization and commuting needs</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India's Electric Two-Wheeler Revolution</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37160" cy="68580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0" y="2286000"/>
            <a:ext cx="6949440" cy="1463040"/>
          </a:xfrm>
          <a:prstGeom prst="rect">
            <a:avLst/>
          </a:prstGeom>
          <a:noFill/>
        </p:spPr>
        <p:txBody>
          <a:bodyPr wrap="square" anchor="b" lIns="45720" rIns="45720">
            <a:spAutoFit/>
          </a:bodyPr>
          <a:lstStyle/>
          <a:p>
            <a:pPr algn="l"/>
            <a:r>
              <a:rPr sz="4000" b="1" i="0">
                <a:solidFill>
                  <a:srgbClr val="1B2430"/>
                </a:solidFill>
                <a:latin typeface="Segoe UI"/>
              </a:rPr>
              <a:t>Competitive Landscape and Infrastructure</a:t>
            </a:r>
          </a:p>
        </p:txBody>
      </p:sp>
      <p:sp>
        <p:nvSpPr>
          <p:cNvPr id="5" name="TextBox 4"/>
          <p:cNvSpPr txBox="1"/>
          <p:nvPr/>
        </p:nvSpPr>
        <p:spPr>
          <a:xfrm>
            <a:off x="4572000" y="3840480"/>
            <a:ext cx="6949440" cy="1097280"/>
          </a:xfrm>
          <a:prstGeom prst="rect">
            <a:avLst/>
          </a:prstGeom>
          <a:noFill/>
        </p:spPr>
        <p:txBody>
          <a:bodyPr wrap="square" anchor="t" lIns="45720" rIns="45720">
            <a:spAutoFit/>
          </a:bodyPr>
          <a:lstStyle/>
          <a:p>
            <a:pPr algn="l"/>
            <a:r>
              <a:rPr sz="2000" b="0" i="0">
                <a:solidFill>
                  <a:srgbClr val="5B6675"/>
                </a:solidFill>
                <a:latin typeface="Segoe UI"/>
              </a:rPr>
              <a:t>Navigating the Ecosystem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Leading Players: Strengths and Focus</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691640"/>
          <a:ext cx="11094415" cy="25146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502920">
                <a:tc>
                  <a:txBody>
                    <a:bodyPr/>
                    <a:lstStyle/>
                    <a:p>
                      <a:r>
                        <a:rPr sz="1600" b="1">
                          <a:solidFill>
                            <a:srgbClr val="FFFFFF"/>
                          </a:solidFill>
                          <a:latin typeface="Segoe UI"/>
                        </a:rPr>
                        <a:t>Company</a:t>
                      </a:r>
                    </a:p>
                  </a:txBody>
                  <a:tcPr anchor="ctr">
                    <a:solidFill>
                      <a:srgbClr val="0B2545"/>
                    </a:solidFill>
                  </a:tcPr>
                </a:tc>
                <a:tc>
                  <a:txBody>
                    <a:bodyPr/>
                    <a:lstStyle/>
                    <a:p>
                      <a:r>
                        <a:rPr sz="1600" b="1">
                          <a:solidFill>
                            <a:srgbClr val="FFFFFF"/>
                          </a:solidFill>
                          <a:latin typeface="Segoe UI"/>
                        </a:rPr>
                        <a:t>Key Models</a:t>
                      </a:r>
                    </a:p>
                  </a:txBody>
                  <a:tcPr anchor="ctr">
                    <a:solidFill>
                      <a:srgbClr val="0B2545"/>
                    </a:solidFill>
                  </a:tcPr>
                </a:tc>
                <a:tc>
                  <a:txBody>
                    <a:bodyPr/>
                    <a:lstStyle/>
                    <a:p>
                      <a:r>
                        <a:rPr sz="1600" b="1">
                          <a:solidFill>
                            <a:srgbClr val="FFFFFF"/>
                          </a:solidFill>
                          <a:latin typeface="Segoe UI"/>
                        </a:rPr>
                        <a:t>Market Share (Illustrative)</a:t>
                      </a:r>
                    </a:p>
                  </a:txBody>
                  <a:tcPr anchor="ctr">
                    <a:solidFill>
                      <a:srgbClr val="0B2545"/>
                    </a:solidFill>
                  </a:tcPr>
                </a:tc>
                <a:tc>
                  <a:txBody>
                    <a:bodyPr/>
                    <a:lstStyle/>
                    <a:p>
                      <a:r>
                        <a:rPr sz="1600" b="1">
                          <a:solidFill>
                            <a:srgbClr val="FFFFFF"/>
                          </a:solidFill>
                          <a:latin typeface="Segoe UI"/>
                        </a:rPr>
                        <a:t>Strengths</a:t>
                      </a:r>
                    </a:p>
                  </a:txBody>
                  <a:tcPr anchor="ctr">
                    <a:solidFill>
                      <a:srgbClr val="0B2545"/>
                    </a:solidFill>
                  </a:tcPr>
                </a:tc>
                <a:tc>
                  <a:txBody>
                    <a:bodyPr/>
                    <a:lstStyle/>
                    <a:p>
                      <a:r>
                        <a:rPr sz="1600" b="1">
                          <a:solidFill>
                            <a:srgbClr val="FFFFFF"/>
                          </a:solidFill>
                          <a:latin typeface="Segoe UI"/>
                        </a:rPr>
                        <a:t>Weaknesses</a:t>
                      </a:r>
                    </a:p>
                  </a:txBody>
                  <a:tcPr anchor="ctr">
                    <a:solidFill>
                      <a:srgbClr val="0B2545"/>
                    </a:solidFill>
                  </a:tcPr>
                </a:tc>
              </a:tr>
              <a:tr h="502920">
                <a:tc>
                  <a:txBody>
                    <a:bodyPr/>
                    <a:lstStyle/>
                    <a:p>
                      <a:r>
                        <a:rPr sz="1600" b="0">
                          <a:solidFill>
                            <a:srgbClr val="1B2430"/>
                          </a:solidFill>
                          <a:latin typeface="Segoe UI"/>
                        </a:rPr>
                        <a:t>Ola Electric</a:t>
                      </a:r>
                    </a:p>
                  </a:txBody>
                  <a:tcPr anchor="ctr">
                    <a:solidFill>
                      <a:srgbClr val="FFFFFF"/>
                    </a:solidFill>
                  </a:tcPr>
                </a:tc>
                <a:tc>
                  <a:txBody>
                    <a:bodyPr/>
                    <a:lstStyle/>
                    <a:p>
                      <a:r>
                        <a:rPr sz="1600" b="0">
                          <a:solidFill>
                            <a:srgbClr val="1B2430"/>
                          </a:solidFill>
                          <a:latin typeface="Segoe UI"/>
                        </a:rPr>
                        <a:t>S1 Pro, S1 Air</a:t>
                      </a:r>
                    </a:p>
                  </a:txBody>
                  <a:tcPr anchor="ctr">
                    <a:solidFill>
                      <a:srgbClr val="FFFFFF"/>
                    </a:solidFill>
                  </a:tcPr>
                </a:tc>
                <a:tc>
                  <a:txBody>
                    <a:bodyPr/>
                    <a:lstStyle/>
                    <a:p>
                      <a:r>
                        <a:rPr sz="1600" b="0">
                          <a:solidFill>
                            <a:srgbClr val="1B2430"/>
                          </a:solidFill>
                          <a:latin typeface="Segoe UI"/>
                        </a:rPr>
                        <a:t>25%</a:t>
                      </a:r>
                    </a:p>
                  </a:txBody>
                  <a:tcPr anchor="ctr">
                    <a:solidFill>
                      <a:srgbClr val="FFFFFF"/>
                    </a:solidFill>
                  </a:tcPr>
                </a:tc>
                <a:tc>
                  <a:txBody>
                    <a:bodyPr/>
                    <a:lstStyle/>
                    <a:p>
                      <a:r>
                        <a:rPr sz="1600" b="0">
                          <a:solidFill>
                            <a:srgbClr val="1B2430"/>
                          </a:solidFill>
                          <a:latin typeface="Segoe UI"/>
                        </a:rPr>
                        <a:t>Aggressive pricing, wide network</a:t>
                      </a:r>
                    </a:p>
                  </a:txBody>
                  <a:tcPr anchor="ctr">
                    <a:solidFill>
                      <a:srgbClr val="FFFFFF"/>
                    </a:solidFill>
                  </a:tcPr>
                </a:tc>
                <a:tc>
                  <a:txBody>
                    <a:bodyPr/>
                    <a:lstStyle/>
                    <a:p>
                      <a:r>
                        <a:rPr sz="1600" b="0">
                          <a:solidFill>
                            <a:srgbClr val="1B2430"/>
                          </a:solidFill>
                          <a:latin typeface="Segoe UI"/>
                        </a:rPr>
                        <a:t>Quality control, service issues</a:t>
                      </a:r>
                    </a:p>
                  </a:txBody>
                  <a:tcPr anchor="ctr">
                    <a:solidFill>
                      <a:srgbClr val="FFFFFF"/>
                    </a:solidFill>
                  </a:tcPr>
                </a:tc>
              </a:tr>
              <a:tr h="502920">
                <a:tc>
                  <a:txBody>
                    <a:bodyPr/>
                    <a:lstStyle/>
                    <a:p>
                      <a:r>
                        <a:rPr sz="1600" b="0">
                          <a:solidFill>
                            <a:srgbClr val="1B2430"/>
                          </a:solidFill>
                          <a:latin typeface="Segoe UI"/>
                        </a:rPr>
                        <a:t>Ather Energy</a:t>
                      </a:r>
                    </a:p>
                  </a:txBody>
                  <a:tcPr anchor="ctr">
                    <a:solidFill>
                      <a:srgbClr val="F2F5F9"/>
                    </a:solidFill>
                  </a:tcPr>
                </a:tc>
                <a:tc>
                  <a:txBody>
                    <a:bodyPr/>
                    <a:lstStyle/>
                    <a:p>
                      <a:r>
                        <a:rPr sz="1600" b="0">
                          <a:solidFill>
                            <a:srgbClr val="1B2430"/>
                          </a:solidFill>
                          <a:latin typeface="Segoe UI"/>
                        </a:rPr>
                        <a:t>450X, 450S</a:t>
                      </a:r>
                    </a:p>
                  </a:txBody>
                  <a:tcPr anchor="ctr">
                    <a:solidFill>
                      <a:srgbClr val="F2F5F9"/>
                    </a:solidFill>
                  </a:tcPr>
                </a:tc>
                <a:tc>
                  <a:txBody>
                    <a:bodyPr/>
                    <a:lstStyle/>
                    <a:p>
                      <a:r>
                        <a:rPr sz="1600" b="0">
                          <a:solidFill>
                            <a:srgbClr val="1B2430"/>
                          </a:solidFill>
                          <a:latin typeface="Segoe UI"/>
                        </a:rPr>
                        <a:t>15%</a:t>
                      </a:r>
                    </a:p>
                  </a:txBody>
                  <a:tcPr anchor="ctr">
                    <a:solidFill>
                      <a:srgbClr val="F2F5F9"/>
                    </a:solidFill>
                  </a:tcPr>
                </a:tc>
                <a:tc>
                  <a:txBody>
                    <a:bodyPr/>
                    <a:lstStyle/>
                    <a:p>
                      <a:r>
                        <a:rPr sz="1600" b="0">
                          <a:solidFill>
                            <a:srgbClr val="1B2430"/>
                          </a:solidFill>
                          <a:latin typeface="Segoe UI"/>
                        </a:rPr>
                        <a:t>Premium tech, strong brand</a:t>
                      </a:r>
                    </a:p>
                  </a:txBody>
                  <a:tcPr anchor="ctr">
                    <a:solidFill>
                      <a:srgbClr val="F2F5F9"/>
                    </a:solidFill>
                  </a:tcPr>
                </a:tc>
                <a:tc>
                  <a:txBody>
                    <a:bodyPr/>
                    <a:lstStyle/>
                    <a:p>
                      <a:r>
                        <a:rPr sz="1600" b="0">
                          <a:solidFill>
                            <a:srgbClr val="1B2430"/>
                          </a:solidFill>
                          <a:latin typeface="Segoe UI"/>
                        </a:rPr>
                        <a:t>Higher price point, limited reach</a:t>
                      </a:r>
                    </a:p>
                  </a:txBody>
                  <a:tcPr anchor="ctr">
                    <a:solidFill>
                      <a:srgbClr val="F2F5F9"/>
                    </a:solidFill>
                  </a:tcPr>
                </a:tc>
              </a:tr>
              <a:tr h="502920">
                <a:tc>
                  <a:txBody>
                    <a:bodyPr/>
                    <a:lstStyle/>
                    <a:p>
                      <a:r>
                        <a:rPr sz="1600" b="0">
                          <a:solidFill>
                            <a:srgbClr val="1B2430"/>
                          </a:solidFill>
                          <a:latin typeface="Segoe UI"/>
                        </a:rPr>
                        <a:t>TVS Motor</a:t>
                      </a:r>
                    </a:p>
                  </a:txBody>
                  <a:tcPr anchor="ctr">
                    <a:solidFill>
                      <a:srgbClr val="FFFFFF"/>
                    </a:solidFill>
                  </a:tcPr>
                </a:tc>
                <a:tc>
                  <a:txBody>
                    <a:bodyPr/>
                    <a:lstStyle/>
                    <a:p>
                      <a:r>
                        <a:rPr sz="1600" b="0">
                          <a:solidFill>
                            <a:srgbClr val="1B2430"/>
                          </a:solidFill>
                          <a:latin typeface="Segoe UI"/>
                        </a:rPr>
                        <a:t>iQube</a:t>
                      </a:r>
                    </a:p>
                  </a:txBody>
                  <a:tcPr anchor="ctr">
                    <a:solidFill>
                      <a:srgbClr val="FFFFFF"/>
                    </a:solidFill>
                  </a:tcPr>
                </a:tc>
                <a:tc>
                  <a:txBody>
                    <a:bodyPr/>
                    <a:lstStyle/>
                    <a:p>
                      <a:r>
                        <a:rPr sz="1600" b="0">
                          <a:solidFill>
                            <a:srgbClr val="1B2430"/>
                          </a:solidFill>
                          <a:latin typeface="Segoe UI"/>
                        </a:rPr>
                        <a:t>12%</a:t>
                      </a:r>
                    </a:p>
                  </a:txBody>
                  <a:tcPr anchor="ctr">
                    <a:solidFill>
                      <a:srgbClr val="FFFFFF"/>
                    </a:solidFill>
                  </a:tcPr>
                </a:tc>
                <a:tc>
                  <a:txBody>
                    <a:bodyPr/>
                    <a:lstStyle/>
                    <a:p>
                      <a:r>
                        <a:rPr sz="1600" b="0">
                          <a:solidFill>
                            <a:srgbClr val="1B2430"/>
                          </a:solidFill>
                          <a:latin typeface="Segoe UI"/>
                        </a:rPr>
                        <a:t>Established brand, reliability</a:t>
                      </a:r>
                    </a:p>
                  </a:txBody>
                  <a:tcPr anchor="ctr">
                    <a:solidFill>
                      <a:srgbClr val="FFFFFF"/>
                    </a:solidFill>
                  </a:tcPr>
                </a:tc>
                <a:tc>
                  <a:txBody>
                    <a:bodyPr/>
                    <a:lstStyle/>
                    <a:p>
                      <a:r>
                        <a:rPr sz="1600" b="0">
                          <a:solidFill>
                            <a:srgbClr val="1B2430"/>
                          </a:solidFill>
                          <a:latin typeface="Segoe UI"/>
                        </a:rPr>
                        <a:t>Slower innovation cycle</a:t>
                      </a:r>
                    </a:p>
                  </a:txBody>
                  <a:tcPr anchor="ctr">
                    <a:solidFill>
                      <a:srgbClr val="FFFFFF"/>
                    </a:solidFill>
                  </a:tcPr>
                </a:tc>
              </a:tr>
              <a:tr h="502920">
                <a:tc>
                  <a:txBody>
                    <a:bodyPr/>
                    <a:lstStyle/>
                    <a:p>
                      <a:r>
                        <a:rPr sz="1600" b="0">
                          <a:solidFill>
                            <a:srgbClr val="1B2430"/>
                          </a:solidFill>
                          <a:latin typeface="Segoe UI"/>
                        </a:rPr>
                        <a:t>Bajaj Auto</a:t>
                      </a:r>
                    </a:p>
                  </a:txBody>
                  <a:tcPr anchor="ctr">
                    <a:solidFill>
                      <a:srgbClr val="F2F5F9"/>
                    </a:solidFill>
                  </a:tcPr>
                </a:tc>
                <a:tc>
                  <a:txBody>
                    <a:bodyPr/>
                    <a:lstStyle/>
                    <a:p>
                      <a:r>
                        <a:rPr sz="1600" b="0">
                          <a:solidFill>
                            <a:srgbClr val="1B2430"/>
                          </a:solidFill>
                          <a:latin typeface="Segoe UI"/>
                        </a:rPr>
                        <a:t>Chetak</a:t>
                      </a:r>
                    </a:p>
                  </a:txBody>
                  <a:tcPr anchor="ctr">
                    <a:solidFill>
                      <a:srgbClr val="F2F5F9"/>
                    </a:solidFill>
                  </a:tcPr>
                </a:tc>
                <a:tc>
                  <a:txBody>
                    <a:bodyPr/>
                    <a:lstStyle/>
                    <a:p>
                      <a:r>
                        <a:rPr sz="1600" b="0">
                          <a:solidFill>
                            <a:srgbClr val="1B2430"/>
                          </a:solidFill>
                          <a:latin typeface="Segoe UI"/>
                        </a:rPr>
                        <a:t>10%</a:t>
                      </a:r>
                    </a:p>
                  </a:txBody>
                  <a:tcPr anchor="ctr">
                    <a:solidFill>
                      <a:srgbClr val="F2F5F9"/>
                    </a:solidFill>
                  </a:tcPr>
                </a:tc>
                <a:tc>
                  <a:txBody>
                    <a:bodyPr/>
                    <a:lstStyle/>
                    <a:p>
                      <a:r>
                        <a:rPr sz="1600" b="0">
                          <a:solidFill>
                            <a:srgbClr val="1B2430"/>
                          </a:solidFill>
                          <a:latin typeface="Segoe UI"/>
                        </a:rPr>
                        <a:t>Legacy brand trust, robust build</a:t>
                      </a:r>
                    </a:p>
                  </a:txBody>
                  <a:tcPr anchor="ctr">
                    <a:solidFill>
                      <a:srgbClr val="F2F5F9"/>
                    </a:solidFill>
                  </a:tcPr>
                </a:tc>
                <a:tc>
                  <a:txBody>
                    <a:bodyPr/>
                    <a:lstStyle/>
                    <a:p>
                      <a:r>
                        <a:rPr sz="1600" b="0">
                          <a:solidFill>
                            <a:srgbClr val="1B2430"/>
                          </a:solidFill>
                          <a:latin typeface="Segoe UI"/>
                        </a:rPr>
                        <a:t>Limited model range, premium pricing</a:t>
                      </a:r>
                    </a:p>
                  </a:txBody>
                  <a:tcPr anchor="ctr">
                    <a:solidFill>
                      <a:srgbClr val="F2F5F9"/>
                    </a:solidFill>
                  </a:tcPr>
                </a:tc>
              </a:tr>
            </a:tbl>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India's Electric Two-Wheeler Revolution</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Overcoming Infrastructure Hurdles</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1320"/>
              </a:spcAft>
            </a:pPr>
            <a:r>
              <a:rPr sz="1320">
                <a:solidFill>
                  <a:srgbClr val="13A89E"/>
                </a:solidFill>
                <a:latin typeface="Segoe UI"/>
              </a:rPr>
              <a:t>■  </a:t>
            </a:r>
            <a:r>
              <a:rPr sz="2200">
                <a:solidFill>
                  <a:srgbClr val="1B2430"/>
                </a:solidFill>
                <a:latin typeface="Segoe UI"/>
              </a:rPr>
              <a:t>Limited public charging points nationwide</a:t>
            </a:r>
          </a:p>
          <a:p>
            <a:pPr>
              <a:spcAft>
                <a:spcPts val="1320"/>
              </a:spcAft>
            </a:pPr>
            <a:r>
              <a:rPr sz="1320">
                <a:solidFill>
                  <a:srgbClr val="13A89E"/>
                </a:solidFill>
                <a:latin typeface="Segoe UI"/>
              </a:rPr>
              <a:t>■  </a:t>
            </a:r>
            <a:r>
              <a:rPr sz="2200">
                <a:solidFill>
                  <a:srgbClr val="1B2430"/>
                </a:solidFill>
                <a:latin typeface="Segoe UI"/>
              </a:rPr>
              <a:t>Varied charging standards and speeds</a:t>
            </a:r>
          </a:p>
          <a:p>
            <a:pPr>
              <a:spcAft>
                <a:spcPts val="1320"/>
              </a:spcAft>
            </a:pPr>
            <a:r>
              <a:rPr sz="1320">
                <a:solidFill>
                  <a:srgbClr val="13A89E"/>
                </a:solidFill>
                <a:latin typeface="Segoe UI"/>
              </a:rPr>
              <a:t>■  </a:t>
            </a:r>
            <a:r>
              <a:rPr sz="2200">
                <a:solidFill>
                  <a:srgbClr val="1B2430"/>
                </a:solidFill>
                <a:latin typeface="Segoe UI"/>
              </a:rPr>
              <a:t>High initial investment for charging networks</a:t>
            </a:r>
          </a:p>
          <a:p>
            <a:pPr>
              <a:spcAft>
                <a:spcPts val="1320"/>
              </a:spcAft>
            </a:pPr>
            <a:r>
              <a:rPr sz="1320">
                <a:solidFill>
                  <a:srgbClr val="13A89E"/>
                </a:solidFill>
                <a:latin typeface="Segoe UI"/>
              </a:rPr>
              <a:t>■  </a:t>
            </a:r>
            <a:r>
              <a:rPr sz="2200">
                <a:solidFill>
                  <a:srgbClr val="1B2430"/>
                </a:solidFill>
                <a:latin typeface="Segoe UI"/>
              </a:rPr>
              <a:t>Consumer range anxiety and perception</a:t>
            </a:r>
          </a:p>
          <a:p>
            <a:pPr>
              <a:spcAft>
                <a:spcPts val="1320"/>
              </a:spcAft>
            </a:pPr>
            <a:r>
              <a:rPr sz="1320">
                <a:solidFill>
                  <a:srgbClr val="13A89E"/>
                </a:solidFill>
                <a:latin typeface="Segoe UI"/>
              </a:rPr>
              <a:t>■  </a:t>
            </a:r>
            <a:r>
              <a:rPr sz="2200">
                <a:solidFill>
                  <a:srgbClr val="1B2430"/>
                </a:solidFill>
                <a:latin typeface="Segoe UI"/>
              </a:rPr>
              <a:t>Grid capacity and power distribution challenges</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India's Electric Two-Wheeler Revolution</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1B2430"/>
                </a:solidFill>
                <a:latin typeface="Segoe UI"/>
              </a:rPr>
              <a:t>Government Catalysts: FAME II</a:t>
            </a:r>
          </a:p>
        </p:txBody>
      </p:sp>
      <p:sp>
        <p:nvSpPr>
          <p:cNvPr id="3" name="Rectangle 2"/>
          <p:cNvSpPr/>
          <p:nvPr/>
        </p:nvSpPr>
        <p:spPr>
          <a:xfrm>
            <a:off x="548640" y="1234440"/>
            <a:ext cx="1097280" cy="64008"/>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45920"/>
            <a:ext cx="5364327" cy="448056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64327" cy="7315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4815687" cy="548640"/>
          </a:xfrm>
          <a:prstGeom prst="rect">
            <a:avLst/>
          </a:prstGeom>
          <a:noFill/>
        </p:spPr>
        <p:txBody>
          <a:bodyPr wrap="square" anchor="t" lIns="45720" rIns="45720">
            <a:spAutoFit/>
          </a:bodyPr>
          <a:lstStyle/>
          <a:p>
            <a:pPr algn="l"/>
            <a:r>
              <a:rPr sz="2200" b="1" i="0">
                <a:solidFill>
                  <a:srgbClr val="1B2430"/>
                </a:solidFill>
                <a:latin typeface="Segoe UI"/>
              </a:rPr>
              <a:t>Objectives</a:t>
            </a:r>
          </a:p>
        </p:txBody>
      </p:sp>
      <p:sp>
        <p:nvSpPr>
          <p:cNvPr id="7" name="TextBox 6"/>
          <p:cNvSpPr txBox="1"/>
          <p:nvPr/>
        </p:nvSpPr>
        <p:spPr>
          <a:xfrm>
            <a:off x="822960" y="2606040"/>
            <a:ext cx="4815687" cy="3291840"/>
          </a:xfrm>
          <a:prstGeom prst="rect">
            <a:avLst/>
          </a:prstGeom>
          <a:noFill/>
        </p:spPr>
        <p:txBody>
          <a:bodyPr wrap="square">
            <a:spAutoFit/>
          </a:bodyPr>
          <a:lstStyle/>
          <a:p>
            <a:pPr>
              <a:spcAft>
                <a:spcPts val="1080"/>
              </a:spcAft>
            </a:pPr>
            <a:r>
              <a:rPr sz="1080">
                <a:solidFill>
                  <a:srgbClr val="13A89E"/>
                </a:solidFill>
                <a:latin typeface="Segoe UI"/>
              </a:rPr>
              <a:t>■  </a:t>
            </a:r>
            <a:r>
              <a:rPr sz="1800">
                <a:solidFill>
                  <a:srgbClr val="1B2430"/>
                </a:solidFill>
                <a:latin typeface="Segoe UI"/>
              </a:rPr>
              <a:t>Promote faster EV adoption</a:t>
            </a:r>
          </a:p>
          <a:p>
            <a:pPr>
              <a:spcAft>
                <a:spcPts val="1080"/>
              </a:spcAft>
            </a:pPr>
            <a:r>
              <a:rPr sz="1080">
                <a:solidFill>
                  <a:srgbClr val="13A89E"/>
                </a:solidFill>
                <a:latin typeface="Segoe UI"/>
              </a:rPr>
              <a:t>■  </a:t>
            </a:r>
            <a:r>
              <a:rPr sz="1800">
                <a:solidFill>
                  <a:srgbClr val="1B2430"/>
                </a:solidFill>
                <a:latin typeface="Segoe UI"/>
              </a:rPr>
              <a:t>Reduce India's carbon footprint</a:t>
            </a:r>
          </a:p>
          <a:p>
            <a:pPr>
              <a:spcAft>
                <a:spcPts val="1080"/>
              </a:spcAft>
            </a:pPr>
            <a:r>
              <a:rPr sz="1080">
                <a:solidFill>
                  <a:srgbClr val="13A89E"/>
                </a:solidFill>
                <a:latin typeface="Segoe UI"/>
              </a:rPr>
              <a:t>■  </a:t>
            </a:r>
            <a:r>
              <a:rPr sz="1800">
                <a:solidFill>
                  <a:srgbClr val="1B2430"/>
                </a:solidFill>
                <a:latin typeface="Segoe UI"/>
              </a:rPr>
              <a:t>Support domestic EV manufacturing</a:t>
            </a:r>
          </a:p>
          <a:p>
            <a:pPr>
              <a:spcAft>
                <a:spcPts val="1080"/>
              </a:spcAft>
            </a:pPr>
            <a:r>
              <a:rPr sz="1080">
                <a:solidFill>
                  <a:srgbClr val="13A89E"/>
                </a:solidFill>
                <a:latin typeface="Segoe UI"/>
              </a:rPr>
              <a:t>■  </a:t>
            </a:r>
            <a:r>
              <a:rPr sz="1800">
                <a:solidFill>
                  <a:srgbClr val="1B2430"/>
                </a:solidFill>
                <a:latin typeface="Segoe UI"/>
              </a:rPr>
              <a:t>Develop robust charging infrastructure</a:t>
            </a:r>
          </a:p>
        </p:txBody>
      </p:sp>
      <p:sp>
        <p:nvSpPr>
          <p:cNvPr id="8" name="Rounded Rectangle 7"/>
          <p:cNvSpPr/>
          <p:nvPr/>
        </p:nvSpPr>
        <p:spPr>
          <a:xfrm>
            <a:off x="6278727" y="1645920"/>
            <a:ext cx="5364327" cy="448056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78727" y="1645920"/>
            <a:ext cx="5364327" cy="73152"/>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920240"/>
            <a:ext cx="4815687" cy="548640"/>
          </a:xfrm>
          <a:prstGeom prst="rect">
            <a:avLst/>
          </a:prstGeom>
          <a:noFill/>
        </p:spPr>
        <p:txBody>
          <a:bodyPr wrap="square" anchor="t" lIns="45720" rIns="45720">
            <a:spAutoFit/>
          </a:bodyPr>
          <a:lstStyle/>
          <a:p>
            <a:pPr algn="l"/>
            <a:r>
              <a:rPr sz="2200" b="1" i="0">
                <a:solidFill>
                  <a:srgbClr val="1B2430"/>
                </a:solidFill>
                <a:latin typeface="Segoe UI"/>
              </a:rPr>
              <a:t>Key Benefits</a:t>
            </a:r>
          </a:p>
        </p:txBody>
      </p:sp>
      <p:sp>
        <p:nvSpPr>
          <p:cNvPr id="11" name="TextBox 10"/>
          <p:cNvSpPr txBox="1"/>
          <p:nvPr/>
        </p:nvSpPr>
        <p:spPr>
          <a:xfrm>
            <a:off x="6553047" y="2606040"/>
            <a:ext cx="4815687" cy="3291840"/>
          </a:xfrm>
          <a:prstGeom prst="rect">
            <a:avLst/>
          </a:prstGeom>
          <a:noFill/>
        </p:spPr>
        <p:txBody>
          <a:bodyPr wrap="square">
            <a:spAutoFit/>
          </a:bodyPr>
          <a:lstStyle/>
          <a:p>
            <a:pPr>
              <a:spcAft>
                <a:spcPts val="1080"/>
              </a:spcAft>
            </a:pPr>
            <a:r>
              <a:rPr sz="1080">
                <a:solidFill>
                  <a:srgbClr val="13A89E"/>
                </a:solidFill>
                <a:latin typeface="Segoe UI"/>
              </a:rPr>
              <a:t>■  </a:t>
            </a:r>
            <a:r>
              <a:rPr sz="1800">
                <a:solidFill>
                  <a:srgbClr val="1B2430"/>
                </a:solidFill>
                <a:latin typeface="Segoe UI"/>
              </a:rPr>
              <a:t>Significant purchase subsidies for buyers</a:t>
            </a:r>
          </a:p>
          <a:p>
            <a:pPr>
              <a:spcAft>
                <a:spcPts val="1080"/>
              </a:spcAft>
            </a:pPr>
            <a:r>
              <a:rPr sz="1080">
                <a:solidFill>
                  <a:srgbClr val="13A89E"/>
                </a:solidFill>
                <a:latin typeface="Segoe UI"/>
              </a:rPr>
              <a:t>■  </a:t>
            </a:r>
            <a:r>
              <a:rPr sz="1800">
                <a:solidFill>
                  <a:srgbClr val="1B2430"/>
                </a:solidFill>
                <a:latin typeface="Segoe UI"/>
              </a:rPr>
              <a:t>Incentives for R&amp;D and manufacturing</a:t>
            </a:r>
          </a:p>
          <a:p>
            <a:pPr>
              <a:spcAft>
                <a:spcPts val="1080"/>
              </a:spcAft>
            </a:pPr>
            <a:r>
              <a:rPr sz="1080">
                <a:solidFill>
                  <a:srgbClr val="13A89E"/>
                </a:solidFill>
                <a:latin typeface="Segoe UI"/>
              </a:rPr>
              <a:t>■  </a:t>
            </a:r>
            <a:r>
              <a:rPr sz="1800">
                <a:solidFill>
                  <a:srgbClr val="1B2430"/>
                </a:solidFill>
                <a:latin typeface="Segoe UI"/>
              </a:rPr>
              <a:t>Grants for public charging stations</a:t>
            </a:r>
          </a:p>
          <a:p>
            <a:pPr>
              <a:spcAft>
                <a:spcPts val="1080"/>
              </a:spcAft>
            </a:pPr>
            <a:r>
              <a:rPr sz="1080">
                <a:solidFill>
                  <a:srgbClr val="13A89E"/>
                </a:solidFill>
                <a:latin typeface="Segoe UI"/>
              </a:rPr>
              <a:t>■  </a:t>
            </a:r>
            <a:r>
              <a:rPr sz="1800">
                <a:solidFill>
                  <a:srgbClr val="1B2430"/>
                </a:solidFill>
                <a:latin typeface="Segoe UI"/>
              </a:rPr>
              <a:t>Tax benefits and financial schemes</a:t>
            </a:r>
          </a:p>
        </p:txBody>
      </p:sp>
      <p:sp>
        <p:nvSpPr>
          <p:cNvPr id="12" name="TextBox 11"/>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5B6675"/>
                </a:solidFill>
                <a:latin typeface="Segoe UI"/>
              </a:rPr>
              <a:t>India's Electric Two-Wheeler Revolution</a:t>
            </a:r>
          </a:p>
        </p:txBody>
      </p:sp>
      <p:sp>
        <p:nvSpPr>
          <p:cNvPr id="13" name="TextBox 12"/>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5B6675"/>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137160" cy="68580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0" y="2286000"/>
            <a:ext cx="6949440" cy="1463040"/>
          </a:xfrm>
          <a:prstGeom prst="rect">
            <a:avLst/>
          </a:prstGeom>
          <a:noFill/>
        </p:spPr>
        <p:txBody>
          <a:bodyPr wrap="square" anchor="b" lIns="45720" rIns="45720">
            <a:spAutoFit/>
          </a:bodyPr>
          <a:lstStyle/>
          <a:p>
            <a:pPr algn="l"/>
            <a:r>
              <a:rPr sz="4000" b="1" i="0">
                <a:solidFill>
                  <a:srgbClr val="1B2430"/>
                </a:solidFill>
                <a:latin typeface="Segoe UI"/>
              </a:rPr>
              <a:t>Our Strategic Go-to-Market</a:t>
            </a:r>
          </a:p>
        </p:txBody>
      </p:sp>
      <p:sp>
        <p:nvSpPr>
          <p:cNvPr id="5" name="TextBox 4"/>
          <p:cNvSpPr txBox="1"/>
          <p:nvPr/>
        </p:nvSpPr>
        <p:spPr>
          <a:xfrm>
            <a:off x="4572000" y="3840480"/>
            <a:ext cx="6949440" cy="1097280"/>
          </a:xfrm>
          <a:prstGeom prst="rect">
            <a:avLst/>
          </a:prstGeom>
          <a:noFill/>
        </p:spPr>
        <p:txBody>
          <a:bodyPr wrap="square" anchor="t" lIns="45720" rIns="45720">
            <a:spAutoFit/>
          </a:bodyPr>
          <a:lstStyle/>
          <a:p>
            <a:pPr algn="l"/>
            <a:r>
              <a:rPr sz="2000" b="0" i="0">
                <a:solidFill>
                  <a:srgbClr val="5B6675"/>
                </a:solidFill>
                <a:latin typeface="Segoe UI"/>
              </a:rPr>
              <a:t>A Roadmap for Success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400" b="1" i="0">
                <a:solidFill>
                  <a:srgbClr val="FFFFFF"/>
                </a:solidFill>
                <a:latin typeface="Segoe UI"/>
              </a:rPr>
              <a:t>Seizing the Future of Mobility</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Join Us in Driving India's EV Transformation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India's Electric Two-Wheeler Revolution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